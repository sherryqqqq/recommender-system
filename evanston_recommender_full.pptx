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8" r:id="rId3"/>
    <p:sldId id="257" r:id="rId4"/>
    <p:sldId id="260" r:id="rId5"/>
    <p:sldId id="261" r:id="rId6"/>
    <p:sldId id="262" r:id="rId7"/>
    <p:sldId id="263" r:id="rId8"/>
    <p:sldId id="264" r:id="rId9"/>
    <p:sldId id="266" r:id="rId10"/>
    <p:sldId id="265" r:id="rId11"/>
    <p:sldId id="295" r:id="rId12"/>
    <p:sldId id="268" r:id="rId13"/>
    <p:sldId id="269" r:id="rId14"/>
    <p:sldId id="270" r:id="rId15"/>
    <p:sldId id="277" r:id="rId16"/>
    <p:sldId id="278" r:id="rId17"/>
    <p:sldId id="281" r:id="rId18"/>
    <p:sldId id="293" r:id="rId19"/>
    <p:sldId id="296" r:id="rId20"/>
    <p:sldId id="297" r:id="rId21"/>
    <p:sldId id="271" r:id="rId22"/>
    <p:sldId id="272" r:id="rId23"/>
    <p:sldId id="273" r:id="rId24"/>
    <p:sldId id="275" r:id="rId25"/>
    <p:sldId id="283" r:id="rId26"/>
    <p:sldId id="284"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47"/>
    <p:restoredTop sz="71486"/>
  </p:normalViewPr>
  <p:slideViewPr>
    <p:cSldViewPr snapToGrid="0" snapToObjects="1">
      <p:cViewPr varScale="1">
        <p:scale>
          <a:sx n="157" d="100"/>
          <a:sy n="157" d="100"/>
        </p:scale>
        <p:origin x="3496" y="168"/>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62066C-3C44-4284-8359-EEBD474863C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FDF2AB1C-38BD-4BD1-B74D-0BEA4CE6C06C}">
      <dgm:prSet/>
      <dgm:spPr/>
      <dgm:t>
        <a:bodyPr/>
        <a:lstStyle/>
        <a:p>
          <a:r>
            <a:rPr lang="en-US"/>
            <a:t>Categorical → 'Unknown' to preserve users.</a:t>
          </a:r>
          <a:endParaRPr lang="en-US" dirty="0"/>
        </a:p>
      </dgm:t>
    </dgm:pt>
    <dgm:pt modelId="{F139D351-B755-4D37-B188-AC379B37B64D}" type="parTrans" cxnId="{661EF642-1AF0-432C-A9C9-768B7F2D35A0}">
      <dgm:prSet/>
      <dgm:spPr/>
      <dgm:t>
        <a:bodyPr/>
        <a:lstStyle/>
        <a:p>
          <a:endParaRPr lang="en-US"/>
        </a:p>
      </dgm:t>
    </dgm:pt>
    <dgm:pt modelId="{521D2FA3-3B93-4705-B20D-18236F28E3B2}" type="sibTrans" cxnId="{661EF642-1AF0-432C-A9C9-768B7F2D35A0}">
      <dgm:prSet/>
      <dgm:spPr/>
      <dgm:t>
        <a:bodyPr/>
        <a:lstStyle/>
        <a:p>
          <a:endParaRPr lang="en-US"/>
        </a:p>
      </dgm:t>
    </dgm:pt>
    <dgm:pt modelId="{ACC2200C-3AFE-4F0A-8CC3-188B1501E2BB}">
      <dgm:prSet/>
      <dgm:spPr/>
      <dgm:t>
        <a:bodyPr/>
        <a:lstStyle/>
        <a:p>
          <a:r>
            <a:rPr lang="en-US" dirty="0"/>
            <a:t>Numerical → median per restaurant.</a:t>
          </a:r>
        </a:p>
      </dgm:t>
    </dgm:pt>
    <dgm:pt modelId="{4FAB43BD-259A-47D4-9610-DDDC2690E5BA}" type="sibTrans" cxnId="{66CD957C-B9DB-4ED0-A45A-46033FD8849C}">
      <dgm:prSet/>
      <dgm:spPr/>
      <dgm:t>
        <a:bodyPr/>
        <a:lstStyle/>
        <a:p>
          <a:endParaRPr lang="en-US"/>
        </a:p>
      </dgm:t>
    </dgm:pt>
    <dgm:pt modelId="{8AA8F56D-4231-4B65-A667-7166DBF05FCA}" type="parTrans" cxnId="{66CD957C-B9DB-4ED0-A45A-46033FD8849C}">
      <dgm:prSet/>
      <dgm:spPr/>
      <dgm:t>
        <a:bodyPr/>
        <a:lstStyle/>
        <a:p>
          <a:endParaRPr lang="en-US"/>
        </a:p>
      </dgm:t>
    </dgm:pt>
    <dgm:pt modelId="{A6ADC9EE-0931-4C88-9982-208BE63606A4}">
      <dgm:prSet/>
      <dgm:spPr/>
      <dgm:t>
        <a:bodyPr/>
        <a:lstStyle/>
        <a:p>
          <a:r>
            <a:rPr lang="en-US" dirty="0"/>
            <a:t>Dates → median day per restaurant.</a:t>
          </a:r>
        </a:p>
      </dgm:t>
    </dgm:pt>
    <dgm:pt modelId="{D6C8C603-B57F-4773-A2AE-BFA6EEA7A44E}" type="sibTrans" cxnId="{00AF5D7F-2EA8-4E43-A758-3E6D85175B60}">
      <dgm:prSet/>
      <dgm:spPr/>
      <dgm:t>
        <a:bodyPr/>
        <a:lstStyle/>
        <a:p>
          <a:endParaRPr lang="en-US"/>
        </a:p>
      </dgm:t>
    </dgm:pt>
    <dgm:pt modelId="{C8BFCF1B-BCC3-447B-BDB0-8D5DF6BC153C}" type="parTrans" cxnId="{00AF5D7F-2EA8-4E43-A758-3E6D85175B60}">
      <dgm:prSet/>
      <dgm:spPr/>
      <dgm:t>
        <a:bodyPr/>
        <a:lstStyle/>
        <a:p>
          <a:endParaRPr lang="en-US"/>
        </a:p>
      </dgm:t>
    </dgm:pt>
    <dgm:pt modelId="{9408FEDC-5506-45B8-AD63-612C0825BB46}">
      <dgm:prSet/>
      <dgm:spPr/>
      <dgm:t>
        <a:bodyPr/>
        <a:lstStyle/>
        <a:p>
          <a:r>
            <a:rPr lang="en-US" dirty="0"/>
            <a:t>Aim: retain data, minimize bias.</a:t>
          </a:r>
        </a:p>
      </dgm:t>
    </dgm:pt>
    <dgm:pt modelId="{25EF26B7-F590-485A-B652-A7879B3C1381}" type="sibTrans" cxnId="{A38B2CD6-B01D-40FE-B5FF-2B8927A29832}">
      <dgm:prSet/>
      <dgm:spPr/>
      <dgm:t>
        <a:bodyPr/>
        <a:lstStyle/>
        <a:p>
          <a:endParaRPr lang="en-US"/>
        </a:p>
      </dgm:t>
    </dgm:pt>
    <dgm:pt modelId="{0C61F1CF-0DC7-46A9-A436-F6BE15B18C31}" type="parTrans" cxnId="{A38B2CD6-B01D-40FE-B5FF-2B8927A29832}">
      <dgm:prSet/>
      <dgm:spPr/>
      <dgm:t>
        <a:bodyPr/>
        <a:lstStyle/>
        <a:p>
          <a:endParaRPr lang="en-US"/>
        </a:p>
      </dgm:t>
    </dgm:pt>
    <dgm:pt modelId="{A6165051-4E51-D64E-BABE-7DD3A9381540}" type="pres">
      <dgm:prSet presAssocID="{D162066C-3C44-4284-8359-EEBD474863C0}" presName="linear" presStyleCnt="0">
        <dgm:presLayoutVars>
          <dgm:animLvl val="lvl"/>
          <dgm:resizeHandles val="exact"/>
        </dgm:presLayoutVars>
      </dgm:prSet>
      <dgm:spPr/>
    </dgm:pt>
    <dgm:pt modelId="{703A1610-C530-344E-BB5E-421DB4D56D6C}" type="pres">
      <dgm:prSet presAssocID="{FDF2AB1C-38BD-4BD1-B74D-0BEA4CE6C06C}" presName="parentText" presStyleLbl="node1" presStyleIdx="0" presStyleCnt="4">
        <dgm:presLayoutVars>
          <dgm:chMax val="0"/>
          <dgm:bulletEnabled val="1"/>
        </dgm:presLayoutVars>
      </dgm:prSet>
      <dgm:spPr/>
    </dgm:pt>
    <dgm:pt modelId="{AC447D17-0827-3941-A40F-DA092899330B}" type="pres">
      <dgm:prSet presAssocID="{521D2FA3-3B93-4705-B20D-18236F28E3B2}" presName="spacer" presStyleCnt="0"/>
      <dgm:spPr/>
    </dgm:pt>
    <dgm:pt modelId="{34B61D16-46AA-6B42-B11E-9451A2FA56D7}" type="pres">
      <dgm:prSet presAssocID="{ACC2200C-3AFE-4F0A-8CC3-188B1501E2BB}" presName="parentText" presStyleLbl="node1" presStyleIdx="1" presStyleCnt="4">
        <dgm:presLayoutVars>
          <dgm:chMax val="0"/>
          <dgm:bulletEnabled val="1"/>
        </dgm:presLayoutVars>
      </dgm:prSet>
      <dgm:spPr/>
    </dgm:pt>
    <dgm:pt modelId="{11FB83CA-77F4-3949-A2F7-B6C929A662D0}" type="pres">
      <dgm:prSet presAssocID="{4FAB43BD-259A-47D4-9610-DDDC2690E5BA}" presName="spacer" presStyleCnt="0"/>
      <dgm:spPr/>
    </dgm:pt>
    <dgm:pt modelId="{7D6F8C57-B748-AE4A-88D8-EAB1E9FACDC4}" type="pres">
      <dgm:prSet presAssocID="{A6ADC9EE-0931-4C88-9982-208BE63606A4}" presName="parentText" presStyleLbl="node1" presStyleIdx="2" presStyleCnt="4">
        <dgm:presLayoutVars>
          <dgm:chMax val="0"/>
          <dgm:bulletEnabled val="1"/>
        </dgm:presLayoutVars>
      </dgm:prSet>
      <dgm:spPr/>
    </dgm:pt>
    <dgm:pt modelId="{4B8616B5-FCDF-0441-A360-2477644B9E3C}" type="pres">
      <dgm:prSet presAssocID="{D6C8C603-B57F-4773-A2AE-BFA6EEA7A44E}" presName="spacer" presStyleCnt="0"/>
      <dgm:spPr/>
    </dgm:pt>
    <dgm:pt modelId="{5937ECDB-7F36-F342-82B4-A00C9E3B9D9B}" type="pres">
      <dgm:prSet presAssocID="{9408FEDC-5506-45B8-AD63-612C0825BB46}" presName="parentText" presStyleLbl="node1" presStyleIdx="3" presStyleCnt="4">
        <dgm:presLayoutVars>
          <dgm:chMax val="0"/>
          <dgm:bulletEnabled val="1"/>
        </dgm:presLayoutVars>
      </dgm:prSet>
      <dgm:spPr/>
    </dgm:pt>
  </dgm:ptLst>
  <dgm:cxnLst>
    <dgm:cxn modelId="{60FE9A08-D7F9-F545-AA13-B1BA63E1DCEE}" type="presOf" srcId="{FDF2AB1C-38BD-4BD1-B74D-0BEA4CE6C06C}" destId="{703A1610-C530-344E-BB5E-421DB4D56D6C}" srcOrd="0" destOrd="0" presId="urn:microsoft.com/office/officeart/2005/8/layout/vList2"/>
    <dgm:cxn modelId="{68D8B20C-A450-8A40-92B9-73FF354D3E7F}" type="presOf" srcId="{9408FEDC-5506-45B8-AD63-612C0825BB46}" destId="{5937ECDB-7F36-F342-82B4-A00C9E3B9D9B}" srcOrd="0" destOrd="0" presId="urn:microsoft.com/office/officeart/2005/8/layout/vList2"/>
    <dgm:cxn modelId="{73C50317-2389-3142-8D00-B34D6893D860}" type="presOf" srcId="{A6ADC9EE-0931-4C88-9982-208BE63606A4}" destId="{7D6F8C57-B748-AE4A-88D8-EAB1E9FACDC4}" srcOrd="0" destOrd="0" presId="urn:microsoft.com/office/officeart/2005/8/layout/vList2"/>
    <dgm:cxn modelId="{661EF642-1AF0-432C-A9C9-768B7F2D35A0}" srcId="{D162066C-3C44-4284-8359-EEBD474863C0}" destId="{FDF2AB1C-38BD-4BD1-B74D-0BEA4CE6C06C}" srcOrd="0" destOrd="0" parTransId="{F139D351-B755-4D37-B188-AC379B37B64D}" sibTransId="{521D2FA3-3B93-4705-B20D-18236F28E3B2}"/>
    <dgm:cxn modelId="{A5490571-E6F1-5942-9836-F9B23343F718}" type="presOf" srcId="{D162066C-3C44-4284-8359-EEBD474863C0}" destId="{A6165051-4E51-D64E-BABE-7DD3A9381540}" srcOrd="0" destOrd="0" presId="urn:microsoft.com/office/officeart/2005/8/layout/vList2"/>
    <dgm:cxn modelId="{66CD957C-B9DB-4ED0-A45A-46033FD8849C}" srcId="{D162066C-3C44-4284-8359-EEBD474863C0}" destId="{ACC2200C-3AFE-4F0A-8CC3-188B1501E2BB}" srcOrd="1" destOrd="0" parTransId="{8AA8F56D-4231-4B65-A667-7166DBF05FCA}" sibTransId="{4FAB43BD-259A-47D4-9610-DDDC2690E5BA}"/>
    <dgm:cxn modelId="{00AF5D7F-2EA8-4E43-A758-3E6D85175B60}" srcId="{D162066C-3C44-4284-8359-EEBD474863C0}" destId="{A6ADC9EE-0931-4C88-9982-208BE63606A4}" srcOrd="2" destOrd="0" parTransId="{C8BFCF1B-BCC3-447B-BDB0-8D5DF6BC153C}" sibTransId="{D6C8C603-B57F-4773-A2AE-BFA6EEA7A44E}"/>
    <dgm:cxn modelId="{B368CECD-AF6C-5742-B18B-DA026323D426}" type="presOf" srcId="{ACC2200C-3AFE-4F0A-8CC3-188B1501E2BB}" destId="{34B61D16-46AA-6B42-B11E-9451A2FA56D7}" srcOrd="0" destOrd="0" presId="urn:microsoft.com/office/officeart/2005/8/layout/vList2"/>
    <dgm:cxn modelId="{A38B2CD6-B01D-40FE-B5FF-2B8927A29832}" srcId="{D162066C-3C44-4284-8359-EEBD474863C0}" destId="{9408FEDC-5506-45B8-AD63-612C0825BB46}" srcOrd="3" destOrd="0" parTransId="{0C61F1CF-0DC7-46A9-A436-F6BE15B18C31}" sibTransId="{25EF26B7-F590-485A-B652-A7879B3C1381}"/>
    <dgm:cxn modelId="{10274899-5EEC-D844-9C3B-E49F1B1F7FE2}" type="presParOf" srcId="{A6165051-4E51-D64E-BABE-7DD3A9381540}" destId="{703A1610-C530-344E-BB5E-421DB4D56D6C}" srcOrd="0" destOrd="0" presId="urn:microsoft.com/office/officeart/2005/8/layout/vList2"/>
    <dgm:cxn modelId="{7D839CF3-5DCA-6D41-8821-794620078D4E}" type="presParOf" srcId="{A6165051-4E51-D64E-BABE-7DD3A9381540}" destId="{AC447D17-0827-3941-A40F-DA092899330B}" srcOrd="1" destOrd="0" presId="urn:microsoft.com/office/officeart/2005/8/layout/vList2"/>
    <dgm:cxn modelId="{A0A512E7-1B4E-F84A-9952-E3F20644E3C7}" type="presParOf" srcId="{A6165051-4E51-D64E-BABE-7DD3A9381540}" destId="{34B61D16-46AA-6B42-B11E-9451A2FA56D7}" srcOrd="2" destOrd="0" presId="urn:microsoft.com/office/officeart/2005/8/layout/vList2"/>
    <dgm:cxn modelId="{3D2BD848-58F9-DF4B-98EC-4D9F341DEE4A}" type="presParOf" srcId="{A6165051-4E51-D64E-BABE-7DD3A9381540}" destId="{11FB83CA-77F4-3949-A2F7-B6C929A662D0}" srcOrd="3" destOrd="0" presId="urn:microsoft.com/office/officeart/2005/8/layout/vList2"/>
    <dgm:cxn modelId="{E00EB503-D20E-374B-9ACD-DAD462721398}" type="presParOf" srcId="{A6165051-4E51-D64E-BABE-7DD3A9381540}" destId="{7D6F8C57-B748-AE4A-88D8-EAB1E9FACDC4}" srcOrd="4" destOrd="0" presId="urn:microsoft.com/office/officeart/2005/8/layout/vList2"/>
    <dgm:cxn modelId="{FCF209C8-CFC4-7B4F-813E-12E48F577DB3}" type="presParOf" srcId="{A6165051-4E51-D64E-BABE-7DD3A9381540}" destId="{4B8616B5-FCDF-0441-A360-2477644B9E3C}" srcOrd="5" destOrd="0" presId="urn:microsoft.com/office/officeart/2005/8/layout/vList2"/>
    <dgm:cxn modelId="{B535230C-27DA-A440-AFEA-2E05A524BC5C}" type="presParOf" srcId="{A6165051-4E51-D64E-BABE-7DD3A9381540}" destId="{5937ECDB-7F36-F342-82B4-A00C9E3B9D9B}"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3A1610-C530-344E-BB5E-421DB4D56D6C}">
      <dsp:nvSpPr>
        <dsp:cNvPr id="0" name=""/>
        <dsp:cNvSpPr/>
      </dsp:nvSpPr>
      <dsp:spPr>
        <a:xfrm>
          <a:off x="0" y="485121"/>
          <a:ext cx="8229600" cy="81549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Categorical → 'Unknown' to preserve users.</a:t>
          </a:r>
          <a:endParaRPr lang="en-US" sz="3400" kern="1200" dirty="0"/>
        </a:p>
      </dsp:txBody>
      <dsp:txXfrm>
        <a:off x="39809" y="524930"/>
        <a:ext cx="8149982" cy="735872"/>
      </dsp:txXfrm>
    </dsp:sp>
    <dsp:sp modelId="{34B61D16-46AA-6B42-B11E-9451A2FA56D7}">
      <dsp:nvSpPr>
        <dsp:cNvPr id="0" name=""/>
        <dsp:cNvSpPr/>
      </dsp:nvSpPr>
      <dsp:spPr>
        <a:xfrm>
          <a:off x="0" y="1398531"/>
          <a:ext cx="8229600" cy="81549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Numerical → median per restaurant.</a:t>
          </a:r>
        </a:p>
      </dsp:txBody>
      <dsp:txXfrm>
        <a:off x="39809" y="1438340"/>
        <a:ext cx="8149982" cy="735872"/>
      </dsp:txXfrm>
    </dsp:sp>
    <dsp:sp modelId="{7D6F8C57-B748-AE4A-88D8-EAB1E9FACDC4}">
      <dsp:nvSpPr>
        <dsp:cNvPr id="0" name=""/>
        <dsp:cNvSpPr/>
      </dsp:nvSpPr>
      <dsp:spPr>
        <a:xfrm>
          <a:off x="0" y="2311941"/>
          <a:ext cx="8229600" cy="81549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Dates → median day per restaurant.</a:t>
          </a:r>
        </a:p>
      </dsp:txBody>
      <dsp:txXfrm>
        <a:off x="39809" y="2351750"/>
        <a:ext cx="8149982" cy="735872"/>
      </dsp:txXfrm>
    </dsp:sp>
    <dsp:sp modelId="{5937ECDB-7F36-F342-82B4-A00C9E3B9D9B}">
      <dsp:nvSpPr>
        <dsp:cNvPr id="0" name=""/>
        <dsp:cNvSpPr/>
      </dsp:nvSpPr>
      <dsp:spPr>
        <a:xfrm>
          <a:off x="0" y="3225351"/>
          <a:ext cx="8229600" cy="81549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Aim: retain data, minimize bias.</a:t>
          </a:r>
        </a:p>
      </dsp:txBody>
      <dsp:txXfrm>
        <a:off x="39809" y="3265160"/>
        <a:ext cx="8149982" cy="73587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AD829-2AED-314F-B9A7-7C2E4F9E2461}" type="datetimeFigureOut">
              <a:rPr kumimoji="1" lang="zh-CN" altLang="en-US" smtClean="0"/>
              <a:t>2025/4/29</a:t>
            </a:fld>
            <a:endParaRPr kumimoji="1" lang="zh-CN" alt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zh-CN"/>
              <a:t>Click to edit Master text styles</a:t>
            </a:r>
          </a:p>
          <a:p>
            <a:pPr lvl="1"/>
            <a:r>
              <a:rPr kumimoji="1" lang="en-US" altLang="zh-CN"/>
              <a:t>Second level</a:t>
            </a:r>
          </a:p>
          <a:p>
            <a:pPr lvl="2"/>
            <a:r>
              <a:rPr kumimoji="1" lang="en-US" altLang="zh-CN"/>
              <a:t>Third level</a:t>
            </a:r>
          </a:p>
          <a:p>
            <a:pPr lvl="3"/>
            <a:r>
              <a:rPr kumimoji="1" lang="en-US" altLang="zh-CN"/>
              <a:t>Fourth level</a:t>
            </a:r>
          </a:p>
          <a:p>
            <a:pPr lvl="4"/>
            <a:r>
              <a:rPr kumimoji="1" lang="en-US" altLang="zh-CN"/>
              <a:t>Fifth level</a:t>
            </a:r>
            <a:endParaRPr kumimoji="1"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8BC718-3735-C94A-B278-4A852E661EEC}" type="slidenum">
              <a:rPr kumimoji="1" lang="zh-CN" altLang="en-US" smtClean="0"/>
              <a:t>‹#›</a:t>
            </a:fld>
            <a:endParaRPr kumimoji="1" lang="zh-CN" altLang="en-US"/>
          </a:p>
        </p:txBody>
      </p:sp>
    </p:spTree>
    <p:extLst>
      <p:ext uri="{BB962C8B-B14F-4D97-AF65-F5344CB8AC3E}">
        <p14:creationId xmlns:p14="http://schemas.microsoft.com/office/powerpoint/2010/main" val="571711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Hi professor! Today I'll be presenting my analysis of the Evanston Restaurant Recommender System. This project explores different approaches to building recommendation systems using restaurant review data from Evanston.</a:t>
            </a:r>
          </a:p>
          <a:p>
            <a:endParaRPr kumimoji="1" lang="zh-CN" altLang="en-US" dirty="0"/>
          </a:p>
        </p:txBody>
      </p:sp>
      <p:sp>
        <p:nvSpPr>
          <p:cNvPr id="4" name="Slide Number Placeholder 3"/>
          <p:cNvSpPr>
            <a:spLocks noGrp="1"/>
          </p:cNvSpPr>
          <p:nvPr>
            <p:ph type="sldNum" sz="quarter" idx="5"/>
          </p:nvPr>
        </p:nvSpPr>
        <p:spPr/>
        <p:txBody>
          <a:bodyPr/>
          <a:lstStyle/>
          <a:p>
            <a:fld id="{1D8BC718-3735-C94A-B278-4A852E661EEC}" type="slidenum">
              <a:rPr kumimoji="1" lang="zh-CN" altLang="en-US" smtClean="0"/>
              <a:t>1</a:t>
            </a:fld>
            <a:endParaRPr kumimoji="1" lang="zh-CN" altLang="en-US"/>
          </a:p>
        </p:txBody>
      </p:sp>
    </p:spTree>
    <p:extLst>
      <p:ext uri="{BB962C8B-B14F-4D97-AF65-F5344CB8AC3E}">
        <p14:creationId xmlns:p14="http://schemas.microsoft.com/office/powerpoint/2010/main" val="1457952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buNone/>
            </a:pPr>
            <a:r>
              <a:rPr lang="en-US" b="0" dirty="0">
                <a:solidFill>
                  <a:srgbClr val="000000"/>
                </a:solidFill>
                <a:effectLst/>
                <a:latin typeface="Menlo" panose="020B0609030804020204" pitchFamily="49" charset="0"/>
              </a:rPr>
              <a:t>The core problem addressed is recommendation—helping users discover relevant options from many choices.</a:t>
            </a:r>
          </a:p>
          <a:p>
            <a:pPr>
              <a:lnSpc>
                <a:spcPts val="1350"/>
              </a:lnSpc>
              <a:buNone/>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I worked with a dataset containing:</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68 restaurants with attributes (cuisine, cost, location)</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1,500 customer reviews with ratings and demographics</a:t>
            </a:r>
          </a:p>
          <a:p>
            <a:pPr>
              <a:lnSpc>
                <a:spcPts val="1350"/>
              </a:lnSpc>
            </a:pPr>
            <a:br>
              <a:rPr lang="en-US" b="0" dirty="0">
                <a:solidFill>
                  <a:srgbClr val="000000"/>
                </a:solidFill>
                <a:effectLst/>
                <a:latin typeface="Menlo" panose="020B0609030804020204" pitchFamily="49" charset="0"/>
              </a:rPr>
            </a:br>
            <a:endParaRPr lang="en-US" b="0" dirty="0">
              <a:solidFill>
                <a:srgbClr val="000000"/>
              </a:solidFill>
              <a:effectLst/>
              <a:latin typeface="Menlo" panose="020B0609030804020204" pitchFamily="49" charset="0"/>
            </a:endParaRPr>
          </a:p>
          <a:p>
            <a:endParaRPr kumimoji="1" lang="zh-CN" altLang="en-US" dirty="0"/>
          </a:p>
        </p:txBody>
      </p:sp>
      <p:sp>
        <p:nvSpPr>
          <p:cNvPr id="4" name="Slide Number Placeholder 3"/>
          <p:cNvSpPr>
            <a:spLocks noGrp="1"/>
          </p:cNvSpPr>
          <p:nvPr>
            <p:ph type="sldNum" sz="quarter" idx="5"/>
          </p:nvPr>
        </p:nvSpPr>
        <p:spPr/>
        <p:txBody>
          <a:bodyPr/>
          <a:lstStyle/>
          <a:p>
            <a:fld id="{1D8BC718-3735-C94A-B278-4A852E661EEC}" type="slidenum">
              <a:rPr kumimoji="1" lang="zh-CN" altLang="en-US" smtClean="0"/>
              <a:t>2</a:t>
            </a:fld>
            <a:endParaRPr kumimoji="1" lang="zh-CN" altLang="en-US"/>
          </a:p>
        </p:txBody>
      </p:sp>
    </p:spTree>
    <p:extLst>
      <p:ext uri="{BB962C8B-B14F-4D97-AF65-F5344CB8AC3E}">
        <p14:creationId xmlns:p14="http://schemas.microsoft.com/office/powerpoint/2010/main" val="593309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buNone/>
            </a:pPr>
            <a:r>
              <a:rPr lang="en-US" b="0" dirty="0">
                <a:solidFill>
                  <a:srgbClr val="000000"/>
                </a:solidFill>
                <a:effectLst/>
                <a:latin typeface="Menlo" panose="020B0609030804020204" pitchFamily="49" charset="0"/>
              </a:rPr>
              <a:t>My analysis includes:</a:t>
            </a:r>
          </a:p>
          <a:p>
            <a:pPr>
              <a:lnSpc>
                <a:spcPts val="1350"/>
              </a:lnSpc>
              <a:buNone/>
            </a:pPr>
            <a:r>
              <a:rPr lang="en-US" b="0" dirty="0">
                <a:solidFill>
                  <a:srgbClr val="0451A5"/>
                </a:solidFill>
                <a:effectLst/>
                <a:latin typeface="Menlo" panose="020B0609030804020204" pitchFamily="49" charset="0"/>
              </a:rPr>
              <a:t>1.</a:t>
            </a:r>
            <a:r>
              <a:rPr lang="en-US" b="0" dirty="0">
                <a:solidFill>
                  <a:srgbClr val="000000"/>
                </a:solidFill>
                <a:effectLst/>
                <a:latin typeface="Menlo" panose="020B0609030804020204" pitchFamily="49" charset="0"/>
              </a:rPr>
              <a:t> Data preprocessing and cleaning</a:t>
            </a:r>
          </a:p>
          <a:p>
            <a:pPr>
              <a:lnSpc>
                <a:spcPts val="1350"/>
              </a:lnSpc>
              <a:buNone/>
            </a:pPr>
            <a:r>
              <a:rPr lang="en-US" b="0" dirty="0">
                <a:solidFill>
                  <a:srgbClr val="0451A5"/>
                </a:solidFill>
                <a:effectLst/>
                <a:latin typeface="Menlo" panose="020B0609030804020204" pitchFamily="49" charset="0"/>
              </a:rPr>
              <a:t>2.</a:t>
            </a:r>
            <a:r>
              <a:rPr lang="en-US" b="0" dirty="0">
                <a:solidFill>
                  <a:srgbClr val="000000"/>
                </a:solidFill>
                <a:effectLst/>
                <a:latin typeface="Menlo" panose="020B0609030804020204" pitchFamily="49" charset="0"/>
              </a:rPr>
              <a:t> Exploratory data analysis</a:t>
            </a:r>
          </a:p>
          <a:p>
            <a:pPr>
              <a:lnSpc>
                <a:spcPts val="1350"/>
              </a:lnSpc>
              <a:buNone/>
            </a:pPr>
            <a:r>
              <a:rPr lang="en-US" b="0" dirty="0">
                <a:solidFill>
                  <a:srgbClr val="0451A5"/>
                </a:solidFill>
                <a:effectLst/>
                <a:latin typeface="Menlo" panose="020B0609030804020204" pitchFamily="49" charset="0"/>
              </a:rPr>
              <a:t>3.</a:t>
            </a:r>
            <a:r>
              <a:rPr lang="en-US" b="0" dirty="0">
                <a:solidFill>
                  <a:srgbClr val="000000"/>
                </a:solidFill>
                <a:effectLst/>
                <a:latin typeface="Menlo" panose="020B0609030804020204" pitchFamily="49" charset="0"/>
              </a:rPr>
              <a:t> content-based filtering</a:t>
            </a:r>
          </a:p>
          <a:p>
            <a:pPr>
              <a:lnSpc>
                <a:spcPts val="1350"/>
              </a:lnSpc>
              <a:buNone/>
            </a:pPr>
            <a:r>
              <a:rPr lang="en-US" b="0" dirty="0">
                <a:solidFill>
                  <a:srgbClr val="0451A5"/>
                </a:solidFill>
                <a:effectLst/>
                <a:latin typeface="Menlo" panose="020B0609030804020204" pitchFamily="49" charset="0"/>
              </a:rPr>
              <a:t>4.</a:t>
            </a:r>
            <a:r>
              <a:rPr lang="en-US" b="0" dirty="0">
                <a:solidFill>
                  <a:srgbClr val="000000"/>
                </a:solidFill>
                <a:effectLst/>
                <a:latin typeface="Menlo" panose="020B0609030804020204" pitchFamily="49" charset="0"/>
              </a:rPr>
              <a:t> and </a:t>
            </a:r>
            <a:r>
              <a:rPr lang="en-US" b="0" dirty="0" err="1">
                <a:solidFill>
                  <a:srgbClr val="000000"/>
                </a:solidFill>
                <a:effectLst/>
                <a:latin typeface="Menlo" panose="020B0609030804020204" pitchFamily="49" charset="0"/>
              </a:rPr>
              <a:t>i</a:t>
            </a:r>
            <a:r>
              <a:rPr lang="en-US" b="0" dirty="0">
                <a:solidFill>
                  <a:srgbClr val="000000"/>
                </a:solidFill>
                <a:effectLst/>
                <a:latin typeface="Menlo" panose="020B0609030804020204" pitchFamily="49" charset="0"/>
              </a:rPr>
              <a:t> will talk about popularity matching, , and natural language analysis if </a:t>
            </a:r>
            <a:r>
              <a:rPr lang="en-US" b="0" dirty="0" err="1">
                <a:solidFill>
                  <a:srgbClr val="000000"/>
                </a:solidFill>
                <a:effectLst/>
                <a:latin typeface="Menlo" panose="020B0609030804020204" pitchFamily="49" charset="0"/>
              </a:rPr>
              <a:t>i</a:t>
            </a:r>
            <a:r>
              <a:rPr lang="en-US" b="0" dirty="0">
                <a:solidFill>
                  <a:srgbClr val="000000"/>
                </a:solidFill>
                <a:effectLst/>
                <a:latin typeface="Menlo" panose="020B0609030804020204" pitchFamily="49" charset="0"/>
              </a:rPr>
              <a:t> have extra time</a:t>
            </a:r>
          </a:p>
          <a:p>
            <a:pPr>
              <a:lnSpc>
                <a:spcPts val="1350"/>
              </a:lnSpc>
            </a:pPr>
            <a:br>
              <a:rPr lang="en-US" b="0" dirty="0">
                <a:solidFill>
                  <a:srgbClr val="000000"/>
                </a:solidFill>
                <a:effectLst/>
                <a:latin typeface="Menlo" panose="020B0609030804020204" pitchFamily="49" charset="0"/>
              </a:rPr>
            </a:br>
            <a:endParaRPr lang="en-US" b="0" dirty="0">
              <a:solidFill>
                <a:srgbClr val="000000"/>
              </a:solidFill>
              <a:effectLst/>
              <a:latin typeface="Menlo" panose="020B0609030804020204" pitchFamily="49" charset="0"/>
            </a:endParaRPr>
          </a:p>
          <a:p>
            <a:endParaRPr kumimoji="1" lang="zh-CN" altLang="en-US" dirty="0"/>
          </a:p>
        </p:txBody>
      </p:sp>
      <p:sp>
        <p:nvSpPr>
          <p:cNvPr id="4" name="Slide Number Placeholder 3"/>
          <p:cNvSpPr>
            <a:spLocks noGrp="1"/>
          </p:cNvSpPr>
          <p:nvPr>
            <p:ph type="sldNum" sz="quarter" idx="5"/>
          </p:nvPr>
        </p:nvSpPr>
        <p:spPr/>
        <p:txBody>
          <a:bodyPr/>
          <a:lstStyle/>
          <a:p>
            <a:fld id="{1D8BC718-3735-C94A-B278-4A852E661EEC}" type="slidenum">
              <a:rPr kumimoji="1" lang="zh-CN" altLang="en-US" smtClean="0"/>
              <a:t>3</a:t>
            </a:fld>
            <a:endParaRPr kumimoji="1" lang="zh-CN" altLang="en-US"/>
          </a:p>
        </p:txBody>
      </p:sp>
    </p:spTree>
    <p:extLst>
      <p:ext uri="{BB962C8B-B14F-4D97-AF65-F5344CB8AC3E}">
        <p14:creationId xmlns:p14="http://schemas.microsoft.com/office/powerpoint/2010/main" val="1161308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buNone/>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Before analysis, I addressed several data quality issues:</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Removed 7 duplicated reviews</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Standardized inconsistent category labels (e.g., different "single" variations in Marital Status)</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Fixed longitude format errors (missing negative signs, extra commas)</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Corrected restaurant name variants (e.g., "Claire's Korner" spelling differences)</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Standardized date-time formats (imputing missing days using median day by restaurant)</a:t>
            </a:r>
          </a:p>
          <a:p>
            <a:pPr>
              <a:lnSpc>
                <a:spcPts val="1350"/>
              </a:lnSpc>
            </a:pPr>
            <a:br>
              <a:rPr lang="en-US" b="0" dirty="0">
                <a:solidFill>
                  <a:srgbClr val="000000"/>
                </a:solidFill>
                <a:effectLst/>
                <a:latin typeface="Menlo" panose="020B0609030804020204" pitchFamily="49" charset="0"/>
              </a:rPr>
            </a:br>
            <a:endParaRPr lang="en-US" b="0" dirty="0">
              <a:solidFill>
                <a:srgbClr val="000000"/>
              </a:solidFill>
              <a:effectLst/>
              <a:latin typeface="Menlo" panose="020B0609030804020204" pitchFamily="49" charset="0"/>
            </a:endParaRPr>
          </a:p>
          <a:p>
            <a:endParaRPr kumimoji="1" lang="zh-CN" altLang="en-US" dirty="0"/>
          </a:p>
        </p:txBody>
      </p:sp>
      <p:sp>
        <p:nvSpPr>
          <p:cNvPr id="4" name="Slide Number Placeholder 3"/>
          <p:cNvSpPr>
            <a:spLocks noGrp="1"/>
          </p:cNvSpPr>
          <p:nvPr>
            <p:ph type="sldNum" sz="quarter" idx="5"/>
          </p:nvPr>
        </p:nvSpPr>
        <p:spPr/>
        <p:txBody>
          <a:bodyPr/>
          <a:lstStyle/>
          <a:p>
            <a:fld id="{1D8BC718-3735-C94A-B278-4A852E661EEC}" type="slidenum">
              <a:rPr kumimoji="1" lang="zh-CN" altLang="en-US" smtClean="0"/>
              <a:t>4</a:t>
            </a:fld>
            <a:endParaRPr kumimoji="1" lang="zh-CN" altLang="en-US"/>
          </a:p>
        </p:txBody>
      </p:sp>
    </p:spTree>
    <p:extLst>
      <p:ext uri="{BB962C8B-B14F-4D97-AF65-F5344CB8AC3E}">
        <p14:creationId xmlns:p14="http://schemas.microsoft.com/office/powerpoint/2010/main" val="12858358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000000"/>
                </a:solidFill>
                <a:effectLst/>
                <a:latin typeface="Menlo" panose="020B0609030804020204" pitchFamily="49" charset="0"/>
              </a:rPr>
              <a:t>After cleaning, I merged the restaurant and review datasets and visualized restaurant locations, which revealed a concentration in central Evanston, particularly around downtown and Northwestern campus.</a:t>
            </a:r>
          </a:p>
          <a:p>
            <a:endParaRPr kumimoji="1" lang="zh-CN" altLang="en-US" dirty="0"/>
          </a:p>
        </p:txBody>
      </p:sp>
      <p:sp>
        <p:nvSpPr>
          <p:cNvPr id="4" name="Slide Number Placeholder 3"/>
          <p:cNvSpPr>
            <a:spLocks noGrp="1"/>
          </p:cNvSpPr>
          <p:nvPr>
            <p:ph type="sldNum" sz="quarter" idx="5"/>
          </p:nvPr>
        </p:nvSpPr>
        <p:spPr/>
        <p:txBody>
          <a:bodyPr/>
          <a:lstStyle/>
          <a:p>
            <a:fld id="{1D8BC718-3735-C94A-B278-4A852E661EEC}" type="slidenum">
              <a:rPr kumimoji="1" lang="zh-CN" altLang="en-US" smtClean="0"/>
              <a:t>5</a:t>
            </a:fld>
            <a:endParaRPr kumimoji="1" lang="zh-CN" altLang="en-US"/>
          </a:p>
        </p:txBody>
      </p:sp>
    </p:spTree>
    <p:extLst>
      <p:ext uri="{BB962C8B-B14F-4D97-AF65-F5344CB8AC3E}">
        <p14:creationId xmlns:p14="http://schemas.microsoft.com/office/powerpoint/2010/main" val="38722443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buNone/>
            </a:pPr>
            <a:r>
              <a:rPr lang="en-US" b="0" dirty="0">
                <a:solidFill>
                  <a:srgbClr val="000000"/>
                </a:solidFill>
                <a:effectLst/>
                <a:latin typeface="Menlo" panose="020B0609030804020204" pitchFamily="49" charset="0"/>
              </a:rPr>
              <a:t>My analysis revealed significant missing data patterns:</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Review text: 38.4% missing — limiting text-based recommendation approaches</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Vegetarian?: 93.7% missing — effectively unusable</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Weight/height: 6.5%/3.6% missing — moderate missingness</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Birth year/marital status/children: Low missingness (0.1-2.5%)</a:t>
            </a:r>
          </a:p>
          <a:p>
            <a:pPr>
              <a:lnSpc>
                <a:spcPts val="1350"/>
              </a:lnSpc>
            </a:pPr>
            <a:br>
              <a:rPr lang="en-US" b="0" dirty="0">
                <a:solidFill>
                  <a:srgbClr val="000000"/>
                </a:solidFill>
                <a:effectLst/>
                <a:latin typeface="Menlo" panose="020B0609030804020204" pitchFamily="49" charset="0"/>
              </a:rPr>
            </a:br>
            <a:endParaRPr lang="en-US" b="0" dirty="0">
              <a:solidFill>
                <a:srgbClr val="000000"/>
              </a:solidFill>
              <a:effectLst/>
              <a:latin typeface="Menlo" panose="020B0609030804020204" pitchFamily="49" charset="0"/>
            </a:endParaRPr>
          </a:p>
          <a:p>
            <a:endParaRPr kumimoji="1" lang="zh-CN" altLang="en-US" dirty="0"/>
          </a:p>
        </p:txBody>
      </p:sp>
      <p:sp>
        <p:nvSpPr>
          <p:cNvPr id="4" name="Slide Number Placeholder 3"/>
          <p:cNvSpPr>
            <a:spLocks noGrp="1"/>
          </p:cNvSpPr>
          <p:nvPr>
            <p:ph type="sldNum" sz="quarter" idx="5"/>
          </p:nvPr>
        </p:nvSpPr>
        <p:spPr/>
        <p:txBody>
          <a:bodyPr/>
          <a:lstStyle/>
          <a:p>
            <a:fld id="{1D8BC718-3735-C94A-B278-4A852E661EEC}" type="slidenum">
              <a:rPr kumimoji="1" lang="zh-CN" altLang="en-US" smtClean="0"/>
              <a:t>6</a:t>
            </a:fld>
            <a:endParaRPr kumimoji="1" lang="zh-CN" altLang="en-US"/>
          </a:p>
        </p:txBody>
      </p:sp>
    </p:spTree>
    <p:extLst>
      <p:ext uri="{BB962C8B-B14F-4D97-AF65-F5344CB8AC3E}">
        <p14:creationId xmlns:p14="http://schemas.microsoft.com/office/powerpoint/2010/main" val="3624784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buNone/>
            </a:pPr>
            <a:r>
              <a:rPr lang="en-US" b="0" dirty="0">
                <a:solidFill>
                  <a:srgbClr val="000000"/>
                </a:solidFill>
                <a:effectLst/>
                <a:latin typeface="Menlo" panose="020B0609030804020204" pitchFamily="49" charset="0"/>
              </a:rPr>
              <a:t>because not missing at random</a:t>
            </a:r>
            <a:r>
              <a:rPr lang="zh-CN" altLang="en-US" b="0" dirty="0">
                <a:solidFill>
                  <a:srgbClr val="000000"/>
                </a:solidFill>
                <a:effectLst/>
                <a:latin typeface="Menlo" panose="020B0609030804020204" pitchFamily="49" charset="0"/>
              </a:rPr>
              <a:t> </a:t>
            </a:r>
            <a:endParaRPr lang="en-US" altLang="zh-CN" b="0" dirty="0">
              <a:solidFill>
                <a:srgbClr val="000000"/>
              </a:solidFill>
              <a:effectLst/>
              <a:latin typeface="Menlo" panose="020B0609030804020204" pitchFamily="49" charset="0"/>
            </a:endParaRPr>
          </a:p>
          <a:p>
            <a:pPr>
              <a:lnSpc>
                <a:spcPts val="1350"/>
              </a:lnSpc>
              <a:buNone/>
            </a:pPr>
            <a:r>
              <a:rPr lang="en-US" b="0" dirty="0">
                <a:solidFill>
                  <a:srgbClr val="000000"/>
                </a:solidFill>
                <a:effectLst/>
                <a:latin typeface="Menlo" panose="020B0609030804020204" pitchFamily="49" charset="0"/>
              </a:rPr>
              <a:t>I implemented this imputation strategy:</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Categorical variables → 'Unknown' category</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Numerical variables → Median values by restaurant</a:t>
            </a:r>
          </a:p>
          <a:p>
            <a:pPr>
              <a:lnSpc>
                <a:spcPts val="1350"/>
              </a:lnSpc>
              <a:buNone/>
            </a:pPr>
            <a:r>
              <a:rPr lang="en-US" b="0" dirty="0">
                <a:solidFill>
                  <a:srgbClr val="008000"/>
                </a:solidFill>
                <a:effectLst/>
                <a:latin typeface="Menlo" panose="020B0609030804020204" pitchFamily="49" charset="0"/>
              </a:rPr>
              <a:t>&lt;!-- This approach preserves the maximum amount of data while minimizing bias introduction. --&gt;</a:t>
            </a:r>
            <a:endParaRPr lang="en-US" b="0" dirty="0">
              <a:solidFill>
                <a:srgbClr val="000000"/>
              </a:solidFill>
              <a:effectLst/>
              <a:latin typeface="Menlo" panose="020B0609030804020204" pitchFamily="49" charset="0"/>
            </a:endParaRPr>
          </a:p>
          <a:p>
            <a:pPr>
              <a:lnSpc>
                <a:spcPts val="1350"/>
              </a:lnSpc>
            </a:pPr>
            <a:br>
              <a:rPr lang="en-US" b="0" dirty="0">
                <a:solidFill>
                  <a:srgbClr val="000000"/>
                </a:solidFill>
                <a:effectLst/>
                <a:latin typeface="Menlo" panose="020B0609030804020204" pitchFamily="49" charset="0"/>
              </a:rPr>
            </a:br>
            <a:endParaRPr lang="en-US" b="0" dirty="0">
              <a:solidFill>
                <a:srgbClr val="000000"/>
              </a:solidFill>
              <a:effectLst/>
              <a:latin typeface="Menlo" panose="020B0609030804020204" pitchFamily="49" charset="0"/>
            </a:endParaRPr>
          </a:p>
          <a:p>
            <a:endParaRPr kumimoji="1" lang="zh-CN" altLang="en-US" dirty="0"/>
          </a:p>
        </p:txBody>
      </p:sp>
      <p:sp>
        <p:nvSpPr>
          <p:cNvPr id="4" name="Slide Number Placeholder 3"/>
          <p:cNvSpPr>
            <a:spLocks noGrp="1"/>
          </p:cNvSpPr>
          <p:nvPr>
            <p:ph type="sldNum" sz="quarter" idx="5"/>
          </p:nvPr>
        </p:nvSpPr>
        <p:spPr/>
        <p:txBody>
          <a:bodyPr/>
          <a:lstStyle/>
          <a:p>
            <a:fld id="{1D8BC718-3735-C94A-B278-4A852E661EEC}" type="slidenum">
              <a:rPr kumimoji="1" lang="zh-CN" altLang="en-US" smtClean="0"/>
              <a:t>7</a:t>
            </a:fld>
            <a:endParaRPr kumimoji="1" lang="zh-CN" altLang="en-US"/>
          </a:p>
        </p:txBody>
      </p:sp>
    </p:spTree>
    <p:extLst>
      <p:ext uri="{BB962C8B-B14F-4D97-AF65-F5344CB8AC3E}">
        <p14:creationId xmlns:p14="http://schemas.microsoft.com/office/powerpoint/2010/main" val="23488859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buNone/>
            </a:pPr>
            <a:r>
              <a:rPr lang="en-US" b="0" dirty="0">
                <a:solidFill>
                  <a:srgbClr val="000000"/>
                </a:solidFill>
                <a:effectLst/>
                <a:latin typeface="Menlo" panose="020B0609030804020204" pitchFamily="49" charset="0"/>
              </a:rPr>
              <a:t>Key demographic patterns:</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Northwestern students: Only 9.9% of reviewers</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Has children?: 59% no, 38% yes</a:t>
            </a:r>
          </a:p>
          <a:p>
            <a:pPr>
              <a:lnSpc>
                <a:spcPts val="1350"/>
              </a:lnSpc>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Transport: Car owners (63.8%), on foot (27%), public transit (8.9%)</a:t>
            </a:r>
          </a:p>
          <a:p>
            <a:endParaRPr kumimoji="1" lang="zh-CN" altLang="en-US" dirty="0"/>
          </a:p>
        </p:txBody>
      </p:sp>
      <p:sp>
        <p:nvSpPr>
          <p:cNvPr id="4" name="Slide Number Placeholder 3"/>
          <p:cNvSpPr>
            <a:spLocks noGrp="1"/>
          </p:cNvSpPr>
          <p:nvPr>
            <p:ph type="sldNum" sz="quarter" idx="5"/>
          </p:nvPr>
        </p:nvSpPr>
        <p:spPr/>
        <p:txBody>
          <a:bodyPr/>
          <a:lstStyle/>
          <a:p>
            <a:fld id="{1D8BC718-3735-C94A-B278-4A852E661EEC}" type="slidenum">
              <a:rPr kumimoji="1" lang="zh-CN" altLang="en-US" smtClean="0"/>
              <a:t>8</a:t>
            </a:fld>
            <a:endParaRPr kumimoji="1" lang="zh-CN" altLang="en-US"/>
          </a:p>
        </p:txBody>
      </p:sp>
    </p:spTree>
    <p:extLst>
      <p:ext uri="{BB962C8B-B14F-4D97-AF65-F5344CB8AC3E}">
        <p14:creationId xmlns:p14="http://schemas.microsoft.com/office/powerpoint/2010/main" val="1099161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buNone/>
            </a:pPr>
            <a:r>
              <a:rPr lang="en-US" b="0" dirty="0">
                <a:solidFill>
                  <a:srgbClr val="000000"/>
                </a:solidFill>
                <a:effectLst/>
                <a:latin typeface="Menlo" panose="020B0609030804020204" pitchFamily="49" charset="0"/>
              </a:rPr>
              <a:t>Cuisine distribution:</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American (11.8%), Mexican (10.3%), Japanese (8.8%) restaurants are overrepresented</a:t>
            </a:r>
          </a:p>
          <a:p>
            <a:pPr>
              <a:lnSpc>
                <a:spcPts val="1350"/>
              </a:lnSpc>
            </a:pPr>
            <a:r>
              <a:rPr lang="en-US" b="0" dirty="0">
                <a:solidFill>
                  <a:srgbClr val="000000"/>
                </a:solidFill>
                <a:effectLst/>
                <a:latin typeface="Menlo" panose="020B0609030804020204" pitchFamily="49" charset="0"/>
              </a:rPr>
              <a:t>This imbalance presents challenges for recommendation systems, as we'll have more reliable data for popular cuisines but potentially unreliable suggestions for niche categories.</a:t>
            </a:r>
          </a:p>
          <a:p>
            <a:endParaRPr kumimoji="1" lang="zh-CN" altLang="en-US" dirty="0"/>
          </a:p>
        </p:txBody>
      </p:sp>
      <p:sp>
        <p:nvSpPr>
          <p:cNvPr id="4" name="Slide Number Placeholder 3"/>
          <p:cNvSpPr>
            <a:spLocks noGrp="1"/>
          </p:cNvSpPr>
          <p:nvPr>
            <p:ph type="sldNum" sz="quarter" idx="5"/>
          </p:nvPr>
        </p:nvSpPr>
        <p:spPr/>
        <p:txBody>
          <a:bodyPr/>
          <a:lstStyle/>
          <a:p>
            <a:fld id="{1D8BC718-3735-C94A-B278-4A852E661EEC}" type="slidenum">
              <a:rPr kumimoji="1" lang="zh-CN" altLang="en-US" smtClean="0"/>
              <a:t>9</a:t>
            </a:fld>
            <a:endParaRPr kumimoji="1" lang="zh-CN" altLang="en-US"/>
          </a:p>
        </p:txBody>
      </p:sp>
    </p:spTree>
    <p:extLst>
      <p:ext uri="{BB962C8B-B14F-4D97-AF65-F5344CB8AC3E}">
        <p14:creationId xmlns:p14="http://schemas.microsoft.com/office/powerpoint/2010/main" val="24933818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buNone/>
            </a:pPr>
            <a:r>
              <a:rPr lang="en-US" b="0" dirty="0">
                <a:solidFill>
                  <a:srgbClr val="000000"/>
                </a:solidFill>
                <a:effectLst/>
                <a:latin typeface="Menlo" panose="020B0609030804020204" pitchFamily="49" charset="0"/>
              </a:rPr>
              <a:t>Rating patterns:</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Strong positive skew (46.9% are 5-star ratings)</a:t>
            </a:r>
          </a:p>
          <a:p>
            <a:r>
              <a:rPr kumimoji="1" lang="zh-CN" altLang="en-US" dirty="0"/>
              <a:t>看</a:t>
            </a:r>
            <a:r>
              <a:rPr kumimoji="1" lang="en-US" altLang="zh-CN" dirty="0"/>
              <a:t>ppt</a:t>
            </a:r>
            <a:endParaRPr kumimoji="1" lang="zh-CN" altLang="en-US" dirty="0"/>
          </a:p>
        </p:txBody>
      </p:sp>
      <p:sp>
        <p:nvSpPr>
          <p:cNvPr id="4" name="Slide Number Placeholder 3"/>
          <p:cNvSpPr>
            <a:spLocks noGrp="1"/>
          </p:cNvSpPr>
          <p:nvPr>
            <p:ph type="sldNum" sz="quarter" idx="5"/>
          </p:nvPr>
        </p:nvSpPr>
        <p:spPr/>
        <p:txBody>
          <a:bodyPr/>
          <a:lstStyle/>
          <a:p>
            <a:fld id="{1D8BC718-3735-C94A-B278-4A852E661EEC}" type="slidenum">
              <a:rPr kumimoji="1" lang="zh-CN" altLang="en-US" smtClean="0"/>
              <a:t>10</a:t>
            </a:fld>
            <a:endParaRPr kumimoji="1" lang="zh-CN" altLang="en-US"/>
          </a:p>
        </p:txBody>
      </p:sp>
    </p:spTree>
    <p:extLst>
      <p:ext uri="{BB962C8B-B14F-4D97-AF65-F5344CB8AC3E}">
        <p14:creationId xmlns:p14="http://schemas.microsoft.com/office/powerpoint/2010/main" val="33966389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1D8BC718-3735-C94A-B278-4A852E661EEC}" type="slidenum">
              <a:rPr kumimoji="1" lang="zh-CN" altLang="en-US" smtClean="0"/>
              <a:t>11</a:t>
            </a:fld>
            <a:endParaRPr kumimoji="1" lang="zh-CN" altLang="en-US"/>
          </a:p>
        </p:txBody>
      </p:sp>
    </p:spTree>
    <p:extLst>
      <p:ext uri="{BB962C8B-B14F-4D97-AF65-F5344CB8AC3E}">
        <p14:creationId xmlns:p14="http://schemas.microsoft.com/office/powerpoint/2010/main" val="3938196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buNone/>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I applied K-Means clustering with k=4 (determined by elbow method)</a:t>
            </a:r>
          </a:p>
          <a:p>
            <a:pPr>
              <a:lnSpc>
                <a:spcPts val="1350"/>
              </a:lnSpc>
            </a:pPr>
            <a:r>
              <a:rPr lang="zh-CN" altLang="en-US" b="0" dirty="0">
                <a:solidFill>
                  <a:srgbClr val="000000"/>
                </a:solidFill>
                <a:effectLst/>
                <a:latin typeface="Menlo" panose="020B0609030804020204" pitchFamily="49" charset="0"/>
              </a:rPr>
              <a:t>解释图片</a:t>
            </a:r>
          </a:p>
          <a:p>
            <a:endParaRPr kumimoji="1" lang="zh-CN" altLang="en-US" dirty="0"/>
          </a:p>
        </p:txBody>
      </p:sp>
      <p:sp>
        <p:nvSpPr>
          <p:cNvPr id="4" name="Slide Number Placeholder 3"/>
          <p:cNvSpPr>
            <a:spLocks noGrp="1"/>
          </p:cNvSpPr>
          <p:nvPr>
            <p:ph type="sldNum" sz="quarter" idx="5"/>
          </p:nvPr>
        </p:nvSpPr>
        <p:spPr/>
        <p:txBody>
          <a:bodyPr/>
          <a:lstStyle/>
          <a:p>
            <a:fld id="{1D8BC718-3735-C94A-B278-4A852E661EEC}" type="slidenum">
              <a:rPr kumimoji="1" lang="zh-CN" altLang="en-US" smtClean="0"/>
              <a:t>12</a:t>
            </a:fld>
            <a:endParaRPr kumimoji="1" lang="zh-CN" altLang="en-US"/>
          </a:p>
        </p:txBody>
      </p:sp>
    </p:spTree>
    <p:extLst>
      <p:ext uri="{BB962C8B-B14F-4D97-AF65-F5344CB8AC3E}">
        <p14:creationId xmlns:p14="http://schemas.microsoft.com/office/powerpoint/2010/main" val="3386138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buNone/>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Clusters 0 and 3 represent younger populations born in the early 1990s, with about 20% being Northwestern students. Within this younger demographic, those with children (Cluster 3) give slightly higher ratings (3.91) than those without children (3.88).</a:t>
            </a:r>
          </a:p>
          <a:p>
            <a:pPr>
              <a:lnSpc>
                <a:spcPts val="1350"/>
              </a:lnSpc>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Clusters 1 and 2 consist of older individuals born in the 1960s and 1970s, most of whom have children. The oldest group (Cluster 2, average birth year 1961) gave the lowest average ratings at 3.56, suggesting they might be more critical in their evaluations.</a:t>
            </a:r>
          </a:p>
          <a:p>
            <a:endParaRPr kumimoji="1" lang="zh-CN" altLang="en-US" dirty="0"/>
          </a:p>
        </p:txBody>
      </p:sp>
      <p:sp>
        <p:nvSpPr>
          <p:cNvPr id="4" name="Slide Number Placeholder 3"/>
          <p:cNvSpPr>
            <a:spLocks noGrp="1"/>
          </p:cNvSpPr>
          <p:nvPr>
            <p:ph type="sldNum" sz="quarter" idx="5"/>
          </p:nvPr>
        </p:nvSpPr>
        <p:spPr/>
        <p:txBody>
          <a:bodyPr/>
          <a:lstStyle/>
          <a:p>
            <a:fld id="{1D8BC718-3735-C94A-B278-4A852E661EEC}" type="slidenum">
              <a:rPr kumimoji="1" lang="zh-CN" altLang="en-US" smtClean="0"/>
              <a:t>13</a:t>
            </a:fld>
            <a:endParaRPr kumimoji="1" lang="zh-CN" altLang="en-US"/>
          </a:p>
        </p:txBody>
      </p:sp>
    </p:spTree>
    <p:extLst>
      <p:ext uri="{BB962C8B-B14F-4D97-AF65-F5344CB8AC3E}">
        <p14:creationId xmlns:p14="http://schemas.microsoft.com/office/powerpoint/2010/main" val="23673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buNone/>
            </a:pPr>
            <a:r>
              <a:rPr lang="en-US" b="0" dirty="0">
                <a:solidFill>
                  <a:srgbClr val="000000"/>
                </a:solidFill>
                <a:effectLst/>
                <a:latin typeface="Menlo" panose="020B0609030804020204" pitchFamily="49" charset="0"/>
              </a:rPr>
              <a:t>I validated these findings through Agglomerative Hierarchical clustering, which confirmed the four distinct user segments with similar demographic characteristics.</a:t>
            </a:r>
          </a:p>
          <a:p>
            <a:pPr>
              <a:lnSpc>
                <a:spcPts val="1350"/>
              </a:lnSpc>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By comparing the method, K-Means is a better approach. showing clearer and more compact clusters. Agglomerative Clustering struggles with this PCA-reduced space, showing overlapping and fuzzier cluster borders.</a:t>
            </a:r>
          </a:p>
          <a:p>
            <a:endParaRPr kumimoji="1" lang="zh-CN" altLang="en-US" dirty="0"/>
          </a:p>
        </p:txBody>
      </p:sp>
      <p:sp>
        <p:nvSpPr>
          <p:cNvPr id="4" name="Slide Number Placeholder 3"/>
          <p:cNvSpPr>
            <a:spLocks noGrp="1"/>
          </p:cNvSpPr>
          <p:nvPr>
            <p:ph type="sldNum" sz="quarter" idx="5"/>
          </p:nvPr>
        </p:nvSpPr>
        <p:spPr/>
        <p:txBody>
          <a:bodyPr/>
          <a:lstStyle/>
          <a:p>
            <a:fld id="{1D8BC718-3735-C94A-B278-4A852E661EEC}" type="slidenum">
              <a:rPr kumimoji="1" lang="zh-CN" altLang="en-US" smtClean="0"/>
              <a:t>14</a:t>
            </a:fld>
            <a:endParaRPr kumimoji="1" lang="zh-CN" altLang="en-US"/>
          </a:p>
        </p:txBody>
      </p:sp>
    </p:spTree>
    <p:extLst>
      <p:ext uri="{BB962C8B-B14F-4D97-AF65-F5344CB8AC3E}">
        <p14:creationId xmlns:p14="http://schemas.microsoft.com/office/powerpoint/2010/main" val="38357243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buNone/>
            </a:pPr>
            <a:r>
              <a:rPr lang="en-US" b="0" dirty="0">
                <a:solidFill>
                  <a:srgbClr val="000000"/>
                </a:solidFill>
                <a:effectLst/>
                <a:latin typeface="Menlo" panose="020B0609030804020204" pitchFamily="49" charset="0"/>
              </a:rPr>
              <a:t>For content-based filtering, I:</a:t>
            </a:r>
          </a:p>
          <a:p>
            <a:pPr>
              <a:lnSpc>
                <a:spcPts val="1350"/>
              </a:lnSpc>
              <a:buNone/>
            </a:pPr>
            <a:r>
              <a:rPr lang="en-US" b="0" dirty="0">
                <a:solidFill>
                  <a:srgbClr val="0451A5"/>
                </a:solidFill>
                <a:effectLst/>
                <a:latin typeface="Menlo" panose="020B0609030804020204" pitchFamily="49" charset="0"/>
              </a:rPr>
              <a:t>1.</a:t>
            </a:r>
            <a:r>
              <a:rPr lang="en-US" b="0" dirty="0">
                <a:solidFill>
                  <a:srgbClr val="000000"/>
                </a:solidFill>
                <a:effectLst/>
                <a:latin typeface="Menlo" panose="020B0609030804020204" pitchFamily="49" charset="0"/>
              </a:rPr>
              <a:t> Encoded categorical variables (one-hot encoding)</a:t>
            </a:r>
          </a:p>
          <a:p>
            <a:pPr>
              <a:lnSpc>
                <a:spcPts val="1350"/>
              </a:lnSpc>
              <a:buNone/>
            </a:pPr>
            <a:r>
              <a:rPr lang="en-US" b="0" dirty="0">
                <a:solidFill>
                  <a:srgbClr val="0451A5"/>
                </a:solidFill>
                <a:effectLst/>
                <a:latin typeface="Menlo" panose="020B0609030804020204" pitchFamily="49" charset="0"/>
              </a:rPr>
              <a:t>2.</a:t>
            </a:r>
            <a:r>
              <a:rPr lang="en-US" b="0" dirty="0">
                <a:solidFill>
                  <a:srgbClr val="000000"/>
                </a:solidFill>
                <a:effectLst/>
                <a:latin typeface="Menlo" panose="020B0609030804020204" pitchFamily="49" charset="0"/>
              </a:rPr>
              <a:t> Normalized numerical features</a:t>
            </a:r>
          </a:p>
          <a:p>
            <a:pPr>
              <a:lnSpc>
                <a:spcPts val="1350"/>
              </a:lnSpc>
              <a:buNone/>
            </a:pPr>
            <a:r>
              <a:rPr lang="en-US" b="0" dirty="0">
                <a:solidFill>
                  <a:srgbClr val="0451A5"/>
                </a:solidFill>
                <a:effectLst/>
                <a:latin typeface="Menlo" panose="020B0609030804020204" pitchFamily="49" charset="0"/>
              </a:rPr>
              <a:t>3.</a:t>
            </a:r>
            <a:r>
              <a:rPr lang="en-US" b="0" dirty="0">
                <a:solidFill>
                  <a:srgbClr val="000000"/>
                </a:solidFill>
                <a:effectLst/>
                <a:latin typeface="Menlo" panose="020B0609030804020204" pitchFamily="49" charset="0"/>
              </a:rPr>
              <a:t> For restaurant descriptions, I</a:t>
            </a:r>
          </a:p>
          <a:p>
            <a:pPr>
              <a:lnSpc>
                <a:spcPts val="1350"/>
              </a:lnSpc>
              <a:buNone/>
            </a:pPr>
            <a:r>
              <a:rPr lang="en-US" b="0" dirty="0">
                <a:solidFill>
                  <a:srgbClr val="000000"/>
                </a:solidFill>
                <a:effectLst/>
                <a:latin typeface="Menlo" panose="020B0609030804020204" pitchFamily="49" charset="0"/>
              </a:rPr>
              <a:t>generated TF-IDF embeddings limited to 100 features, capturing key textual information without introducing excessive dimensionality. </a:t>
            </a:r>
          </a:p>
          <a:p>
            <a:pPr>
              <a:lnSpc>
                <a:spcPts val="1350"/>
              </a:lnSpc>
              <a:buNone/>
            </a:pPr>
            <a:r>
              <a:rPr lang="en-US" b="0" dirty="0">
                <a:solidFill>
                  <a:srgbClr val="0451A5"/>
                </a:solidFill>
                <a:effectLst/>
                <a:latin typeface="Menlo" panose="020B0609030804020204" pitchFamily="49" charset="0"/>
              </a:rPr>
              <a:t>4.</a:t>
            </a:r>
            <a:r>
              <a:rPr lang="en-US" b="0" dirty="0">
                <a:solidFill>
                  <a:srgbClr val="000000"/>
                </a:solidFill>
                <a:effectLst/>
                <a:latin typeface="Menlo" panose="020B0609030804020204" pitchFamily="49" charset="0"/>
              </a:rPr>
              <a:t> Created a unified feature space for similarity calculations</a:t>
            </a:r>
          </a:p>
          <a:p>
            <a:pPr>
              <a:lnSpc>
                <a:spcPts val="1350"/>
              </a:lnSpc>
              <a:buNone/>
            </a:pPr>
            <a:br>
              <a:rPr lang="en-US" b="0" dirty="0">
                <a:solidFill>
                  <a:srgbClr val="000000"/>
                </a:solidFill>
                <a:effectLst/>
                <a:latin typeface="Menlo" panose="020B0609030804020204" pitchFamily="49" charset="0"/>
              </a:rPr>
            </a:b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Testing confirmed meaningful relationships between restaurants:</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Peppercorns Kitchen vs. Lao Sze Chuan (both Chinese) are more similar than</a:t>
            </a: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Peppercorns Kitchen vs. Epic Burger (different cuisines):</a:t>
            </a:r>
          </a:p>
          <a:p>
            <a:pPr>
              <a:lnSpc>
                <a:spcPts val="1350"/>
              </a:lnSpc>
              <a:buNone/>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For each user, I identified their favorite restaurant and recommended similar ones. For example, Willie Jacobsen's favorite was Jimmy Johns (American), so the system recommended:</a:t>
            </a:r>
          </a:p>
          <a:p>
            <a:pPr>
              <a:lnSpc>
                <a:spcPts val="1350"/>
              </a:lnSpc>
              <a:buNone/>
            </a:pPr>
            <a:r>
              <a:rPr lang="en-US" b="0" dirty="0">
                <a:solidFill>
                  <a:srgbClr val="0451A5"/>
                </a:solidFill>
                <a:effectLst/>
                <a:latin typeface="Menlo" panose="020B0609030804020204" pitchFamily="49" charset="0"/>
              </a:rPr>
              <a:t>1.</a:t>
            </a:r>
            <a:r>
              <a:rPr lang="en-US" b="0" dirty="0">
                <a:solidFill>
                  <a:srgbClr val="000000"/>
                </a:solidFill>
                <a:effectLst/>
                <a:latin typeface="Menlo" panose="020B0609030804020204" pitchFamily="49" charset="0"/>
              </a:rPr>
              <a:t> Clarkes Off Campus (American)</a:t>
            </a:r>
          </a:p>
          <a:p>
            <a:pPr>
              <a:lnSpc>
                <a:spcPts val="1350"/>
              </a:lnSpc>
              <a:buNone/>
            </a:pPr>
            <a:r>
              <a:rPr lang="en-US" b="0" dirty="0">
                <a:solidFill>
                  <a:srgbClr val="0451A5"/>
                </a:solidFill>
                <a:effectLst/>
                <a:latin typeface="Menlo" panose="020B0609030804020204" pitchFamily="49" charset="0"/>
              </a:rPr>
              <a:t>2.</a:t>
            </a:r>
            <a:r>
              <a:rPr lang="en-US" b="0" dirty="0">
                <a:solidFill>
                  <a:srgbClr val="000000"/>
                </a:solidFill>
                <a:effectLst/>
                <a:latin typeface="Menlo" panose="020B0609030804020204" pitchFamily="49" charset="0"/>
              </a:rPr>
              <a:t> Hecky's BBQ (American)</a:t>
            </a:r>
          </a:p>
          <a:p>
            <a:pPr>
              <a:lnSpc>
                <a:spcPts val="1350"/>
              </a:lnSpc>
            </a:pPr>
            <a:r>
              <a:rPr lang="en-US" b="0" dirty="0">
                <a:solidFill>
                  <a:srgbClr val="000000"/>
                </a:solidFill>
                <a:effectLst/>
                <a:latin typeface="Menlo" panose="020B0609030804020204" pitchFamily="49" charset="0"/>
              </a:rPr>
              <a:t>…. American and fast food restaurant</a:t>
            </a:r>
            <a:br>
              <a:rPr lang="en-US" b="0" dirty="0">
                <a:solidFill>
                  <a:srgbClr val="000000"/>
                </a:solidFill>
                <a:effectLst/>
                <a:latin typeface="Menlo" panose="020B0609030804020204" pitchFamily="49" charset="0"/>
              </a:rPr>
            </a:br>
            <a:endParaRPr lang="en-US" b="0" dirty="0">
              <a:solidFill>
                <a:srgbClr val="000000"/>
              </a:solidFill>
              <a:effectLst/>
              <a:latin typeface="Menlo" panose="020B0609030804020204" pitchFamily="49" charset="0"/>
            </a:endParaRPr>
          </a:p>
          <a:p>
            <a:pPr>
              <a:lnSpc>
                <a:spcPts val="1350"/>
              </a:lnSpc>
            </a:pPr>
            <a:endParaRPr lang="en-US" b="0" dirty="0">
              <a:solidFill>
                <a:srgbClr val="000000"/>
              </a:solidFill>
              <a:effectLst/>
              <a:latin typeface="Menlo" panose="020B0609030804020204" pitchFamily="49" charset="0"/>
            </a:endParaRPr>
          </a:p>
          <a:p>
            <a:endParaRPr kumimoji="1" lang="zh-CN" altLang="en-US" dirty="0"/>
          </a:p>
        </p:txBody>
      </p:sp>
      <p:sp>
        <p:nvSpPr>
          <p:cNvPr id="4" name="Slide Number Placeholder 3"/>
          <p:cNvSpPr>
            <a:spLocks noGrp="1"/>
          </p:cNvSpPr>
          <p:nvPr>
            <p:ph type="sldNum" sz="quarter" idx="5"/>
          </p:nvPr>
        </p:nvSpPr>
        <p:spPr/>
        <p:txBody>
          <a:bodyPr/>
          <a:lstStyle/>
          <a:p>
            <a:fld id="{1D8BC718-3735-C94A-B278-4A852E661EEC}" type="slidenum">
              <a:rPr kumimoji="1" lang="zh-CN" altLang="en-US" smtClean="0"/>
              <a:t>16</a:t>
            </a:fld>
            <a:endParaRPr kumimoji="1" lang="zh-CN" altLang="en-US"/>
          </a:p>
        </p:txBody>
      </p:sp>
    </p:spTree>
    <p:extLst>
      <p:ext uri="{BB962C8B-B14F-4D97-AF65-F5344CB8AC3E}">
        <p14:creationId xmlns:p14="http://schemas.microsoft.com/office/powerpoint/2010/main" val="35733760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buNone/>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To compare the eﬀectiveness of diﬀerent distance metrics, I evaluated performance based on Hit-</a:t>
            </a:r>
          </a:p>
          <a:p>
            <a:pPr>
              <a:lnSpc>
                <a:spcPts val="1350"/>
              </a:lnSpc>
              <a:buNone/>
            </a:pPr>
            <a:r>
              <a:rPr lang="en-US" b="0" dirty="0">
                <a:solidFill>
                  <a:srgbClr val="000000"/>
                </a:solidFill>
                <a:effectLst/>
                <a:latin typeface="Menlo" panose="020B0609030804020204" pitchFamily="49" charset="0"/>
              </a:rPr>
              <a:t>Accuracy—the percentage of highly rated restaurants by the reviewer (rating ≥ 4) that appear in the recommendation</a:t>
            </a:r>
          </a:p>
          <a:p>
            <a:pPr>
              <a:lnSpc>
                <a:spcPts val="1350"/>
              </a:lnSpc>
              <a:buNone/>
            </a:pPr>
            <a:r>
              <a:rPr lang="en-US" b="0" dirty="0">
                <a:solidFill>
                  <a:srgbClr val="000000"/>
                </a:solidFill>
                <a:effectLst/>
                <a:latin typeface="Menlo" panose="020B0609030804020204" pitchFamily="49" charset="0"/>
              </a:rPr>
              <a:t>list.</a:t>
            </a:r>
          </a:p>
          <a:p>
            <a:pPr>
              <a:lnSpc>
                <a:spcPts val="1350"/>
              </a:lnSpc>
              <a:buNone/>
            </a:pPr>
            <a:r>
              <a:rPr lang="en-US" b="0" dirty="0">
                <a:solidFill>
                  <a:srgbClr val="000000"/>
                </a:solidFill>
                <a:effectLst/>
                <a:latin typeface="Menlo" panose="020B0609030804020204" pitchFamily="49" charset="0"/>
              </a:rPr>
              <a:t>The overall evaluation considers two equally weighted aspects</a:t>
            </a:r>
          </a:p>
          <a:p>
            <a:pPr>
              <a:lnSpc>
                <a:spcPts val="1350"/>
              </a:lnSpc>
              <a:buNone/>
            </a:pPr>
            <a:endParaRPr lang="en-US" b="0" dirty="0">
              <a:solidFill>
                <a:srgbClr val="000000"/>
              </a:solidFill>
              <a:effectLst/>
              <a:latin typeface="Menlo" panose="020B0609030804020204" pitchFamily="49" charset="0"/>
            </a:endParaRPr>
          </a:p>
          <a:p>
            <a:pPr>
              <a:lnSpc>
                <a:spcPts val="1350"/>
              </a:lnSpc>
              <a:buNone/>
            </a:pPr>
            <a:r>
              <a:rPr lang="en-US" b="0" dirty="0">
                <a:solidFill>
                  <a:srgbClr val="000000"/>
                </a:solidFill>
                <a:effectLst/>
                <a:latin typeface="Menlo" panose="020B0609030804020204" pitchFamily="49" charset="0"/>
              </a:rPr>
              <a:t>I evaluated performance </a:t>
            </a:r>
            <a:r>
              <a:rPr lang="en-US" b="0" dirty="0" err="1">
                <a:solidFill>
                  <a:srgbClr val="000000"/>
                </a:solidFill>
                <a:effectLst/>
                <a:latin typeface="Menlo" panose="020B0609030804020204" pitchFamily="49" charset="0"/>
              </a:rPr>
              <a:t>euclidean</a:t>
            </a:r>
            <a:r>
              <a:rPr lang="en-US" b="0" dirty="0">
                <a:solidFill>
                  <a:srgbClr val="000000"/>
                </a:solidFill>
                <a:effectLst/>
                <a:latin typeface="Menlo" panose="020B0609030804020204" pitchFamily="49" charset="0"/>
              </a:rPr>
              <a:t> and cosine similarity using a custom hit-accuracy metric considering:</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How well the system recommends highly-rated restaurants</a:t>
            </a:r>
          </a:p>
          <a:p>
            <a:pPr marL="0" marR="0" lvl="0" indent="0" algn="l" defTabSz="914400" rtl="0" eaLnBrk="1" fontAlgn="auto" latinLnBrk="0" hangingPunct="1">
              <a:lnSpc>
                <a:spcPts val="1350"/>
              </a:lnSpc>
              <a:spcBef>
                <a:spcPts val="0"/>
              </a:spcBef>
              <a:spcAft>
                <a:spcPts val="0"/>
              </a:spcAft>
              <a:buClrTx/>
              <a:buSzTx/>
              <a:buFontTx/>
              <a:buNone/>
              <a:tabLst/>
              <a:defRPr/>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How well it avoids poorly-rated restaurants</a:t>
            </a:r>
          </a:p>
          <a:p>
            <a:pPr>
              <a:lnSpc>
                <a:spcPts val="1350"/>
              </a:lnSpc>
              <a:buNone/>
            </a:pPr>
            <a:endParaRPr lang="en-US" b="0" dirty="0">
              <a:solidFill>
                <a:srgbClr val="000000"/>
              </a:solidFill>
              <a:effectLst/>
              <a:latin typeface="Menlo" panose="020B0609030804020204" pitchFamily="49" charset="0"/>
            </a:endParaRPr>
          </a:p>
          <a:p>
            <a:pPr>
              <a:lnSpc>
                <a:spcPts val="1350"/>
              </a:lnSpc>
              <a:buNone/>
            </a:pPr>
            <a:endParaRPr lang="en-US" b="0" dirty="0">
              <a:solidFill>
                <a:srgbClr val="000000"/>
              </a:solidFill>
              <a:effectLst/>
              <a:latin typeface="Menlo" panose="020B0609030804020204" pitchFamily="49" charset="0"/>
            </a:endParaRPr>
          </a:p>
          <a:p>
            <a:pPr>
              <a:lnSpc>
                <a:spcPts val="1350"/>
              </a:lnSpc>
              <a:buNone/>
            </a:pPr>
            <a:br>
              <a:rPr lang="en-US" b="0" dirty="0">
                <a:solidFill>
                  <a:srgbClr val="000000"/>
                </a:solidFill>
                <a:effectLst/>
                <a:latin typeface="Menlo" panose="020B0609030804020204" pitchFamily="49" charset="0"/>
              </a:rPr>
            </a:br>
            <a:r>
              <a:rPr lang="en-US" b="0" dirty="0">
                <a:solidFill>
                  <a:srgbClr val="008000"/>
                </a:solidFill>
                <a:effectLst/>
                <a:latin typeface="Menlo" panose="020B0609030804020204" pitchFamily="49" charset="0"/>
              </a:rPr>
              <a:t>&lt;!-- Applying this metric across all users with sufficient history, the Euclidean distance method achieved 97.17% accuracy, slightly outperforming cosine similarity at 96.95%. While both methods performed well overall, Euclidean distance was generally better at capturing overall similarity. --&gt;</a:t>
            </a:r>
            <a:endParaRPr lang="en-US" b="0" dirty="0">
              <a:solidFill>
                <a:srgbClr val="000000"/>
              </a:solidFill>
              <a:effectLst/>
              <a:latin typeface="Menlo" panose="020B0609030804020204" pitchFamily="49" charset="0"/>
            </a:endParaRPr>
          </a:p>
          <a:p>
            <a:r>
              <a:rPr kumimoji="1" lang="en-US" altLang="zh-CN" dirty="0"/>
              <a:t>This aligns with our instinct. Since the features have been standardized, there's no big diﬀerences</a:t>
            </a:r>
          </a:p>
          <a:p>
            <a:r>
              <a:rPr kumimoji="1" lang="en-US" altLang="zh-CN" dirty="0"/>
              <a:t>between these two methods. However, </a:t>
            </a:r>
            <a:r>
              <a:rPr kumimoji="1" lang="en-US" altLang="zh-CN" dirty="0" err="1"/>
              <a:t>eculidian</a:t>
            </a:r>
            <a:r>
              <a:rPr kumimoji="1" lang="en-US" altLang="zh-CN" dirty="0"/>
              <a:t> method is a better one than the cosine similarity</a:t>
            </a:r>
          </a:p>
          <a:p>
            <a:r>
              <a:rPr kumimoji="1" lang="en-US" altLang="zh-CN" dirty="0"/>
              <a:t>method</a:t>
            </a:r>
            <a:endParaRPr kumimoji="1" lang="zh-CN" altLang="en-US" dirty="0"/>
          </a:p>
        </p:txBody>
      </p:sp>
      <p:sp>
        <p:nvSpPr>
          <p:cNvPr id="4" name="Slide Number Placeholder 3"/>
          <p:cNvSpPr>
            <a:spLocks noGrp="1"/>
          </p:cNvSpPr>
          <p:nvPr>
            <p:ph type="sldNum" sz="quarter" idx="5"/>
          </p:nvPr>
        </p:nvSpPr>
        <p:spPr/>
        <p:txBody>
          <a:bodyPr/>
          <a:lstStyle/>
          <a:p>
            <a:fld id="{1D8BC718-3735-C94A-B278-4A852E661EEC}" type="slidenum">
              <a:rPr kumimoji="1" lang="zh-CN" altLang="en-US" smtClean="0"/>
              <a:t>17</a:t>
            </a:fld>
            <a:endParaRPr kumimoji="1" lang="zh-CN" altLang="en-US"/>
          </a:p>
        </p:txBody>
      </p:sp>
    </p:spTree>
    <p:extLst>
      <p:ext uri="{BB962C8B-B14F-4D97-AF65-F5344CB8AC3E}">
        <p14:creationId xmlns:p14="http://schemas.microsoft.com/office/powerpoint/2010/main" val="6498583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1D8BC718-3735-C94A-B278-4A852E661EEC}" type="slidenum">
              <a:rPr kumimoji="1" lang="zh-CN" altLang="en-US" smtClean="0"/>
              <a:t>19</a:t>
            </a:fld>
            <a:endParaRPr kumimoji="1" lang="zh-CN" altLang="en-US"/>
          </a:p>
        </p:txBody>
      </p:sp>
    </p:spTree>
    <p:extLst>
      <p:ext uri="{BB962C8B-B14F-4D97-AF65-F5344CB8AC3E}">
        <p14:creationId xmlns:p14="http://schemas.microsoft.com/office/powerpoint/2010/main" val="27977052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1D8BC718-3735-C94A-B278-4A852E661EEC}" type="slidenum">
              <a:rPr kumimoji="1" lang="zh-CN" altLang="en-US" smtClean="0"/>
              <a:t>21</a:t>
            </a:fld>
            <a:endParaRPr kumimoji="1" lang="zh-CN" altLang="en-US"/>
          </a:p>
        </p:txBody>
      </p:sp>
    </p:spTree>
    <p:extLst>
      <p:ext uri="{BB962C8B-B14F-4D97-AF65-F5344CB8AC3E}">
        <p14:creationId xmlns:p14="http://schemas.microsoft.com/office/powerpoint/2010/main" val="7452352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buNone/>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I identified notable restaurants:</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Highest-rated: Evanston Games &amp; Cafe (5.0/5.0 vs. dataset average 3.75)</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But based on single review (reliability issue)</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Most-reviewed: Campagnola (48 reviews vs. dataset median 22.5)</a:t>
            </a:r>
          </a:p>
          <a:p>
            <a:pPr>
              <a:lnSpc>
                <a:spcPts val="1350"/>
              </a:lnSpc>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Strong rating of 4.0/5.0</a:t>
            </a:r>
          </a:p>
          <a:p>
            <a:endParaRPr kumimoji="1" lang="zh-CN" altLang="en-US" dirty="0"/>
          </a:p>
        </p:txBody>
      </p:sp>
      <p:sp>
        <p:nvSpPr>
          <p:cNvPr id="4" name="Slide Number Placeholder 3"/>
          <p:cNvSpPr>
            <a:spLocks noGrp="1"/>
          </p:cNvSpPr>
          <p:nvPr>
            <p:ph type="sldNum" sz="quarter" idx="5"/>
          </p:nvPr>
        </p:nvSpPr>
        <p:spPr/>
        <p:txBody>
          <a:bodyPr/>
          <a:lstStyle/>
          <a:p>
            <a:fld id="{1D8BC718-3735-C94A-B278-4A852E661EEC}" type="slidenum">
              <a:rPr kumimoji="1" lang="zh-CN" altLang="en-US" smtClean="0"/>
              <a:t>22</a:t>
            </a:fld>
            <a:endParaRPr kumimoji="1" lang="zh-CN" altLang="en-US"/>
          </a:p>
        </p:txBody>
      </p:sp>
    </p:spTree>
    <p:extLst>
      <p:ext uri="{BB962C8B-B14F-4D97-AF65-F5344CB8AC3E}">
        <p14:creationId xmlns:p14="http://schemas.microsoft.com/office/powerpoint/2010/main" val="17066378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buNone/>
            </a:pPr>
            <a:r>
              <a:rPr lang="en-US" b="0" dirty="0">
                <a:solidFill>
                  <a:srgbClr val="000000"/>
                </a:solidFill>
                <a:effectLst/>
                <a:latin typeface="Menlo" panose="020B0609030804020204" pitchFamily="49" charset="0"/>
              </a:rPr>
              <a:t>I developed a popularity score formula:</a:t>
            </a:r>
          </a:p>
          <a:p>
            <a:pPr>
              <a:lnSpc>
                <a:spcPts val="1350"/>
              </a:lnSpc>
              <a:buNone/>
            </a:pPr>
            <a:r>
              <a:rPr lang="en-US" b="0" dirty="0">
                <a:solidFill>
                  <a:srgbClr val="000000"/>
                </a:solidFill>
                <a:effectLst/>
                <a:latin typeface="Menlo" panose="020B0609030804020204" pitchFamily="49" charset="0"/>
              </a:rPr>
              <a:t>```</a:t>
            </a:r>
          </a:p>
          <a:p>
            <a:pPr>
              <a:lnSpc>
                <a:spcPts val="1350"/>
              </a:lnSpc>
              <a:buNone/>
            </a:pPr>
            <a:r>
              <a:rPr lang="en-US" b="0" dirty="0">
                <a:solidFill>
                  <a:srgbClr val="000000"/>
                </a:solidFill>
                <a:effectLst/>
                <a:latin typeface="Menlo" panose="020B0609030804020204" pitchFamily="49" charset="0"/>
              </a:rPr>
              <a:t>Popularity Score = Average Rating × (Restaurant Review Count / Total Reviews in Cuisine)</a:t>
            </a:r>
          </a:p>
          <a:p>
            <a:pPr>
              <a:lnSpc>
                <a:spcPts val="1350"/>
              </a:lnSpc>
              <a:buNone/>
            </a:pPr>
            <a:r>
              <a:rPr lang="en-US" b="0" dirty="0">
                <a:solidFill>
                  <a:srgbClr val="000000"/>
                </a:solidFill>
                <a:effectLst/>
                <a:latin typeface="Menlo" panose="020B0609030804020204" pitchFamily="49" charset="0"/>
              </a:rPr>
              <a:t>```</a:t>
            </a:r>
          </a:p>
          <a:p>
            <a:pPr>
              <a:lnSpc>
                <a:spcPts val="1350"/>
              </a:lnSpc>
              <a:buNone/>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This generated cuisine-specific recommendations:</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Spanish: Tapas Barcelona (4.21 rating, 29 reviews, score 2.14)</a:t>
            </a:r>
          </a:p>
          <a:p>
            <a:pPr>
              <a:lnSpc>
                <a:spcPts val="1350"/>
              </a:lnSpc>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Chinese: Joy Yee Noodle (4.29 rating, 31 reviews, score 1.51)</a:t>
            </a:r>
          </a:p>
          <a:p>
            <a:endParaRPr kumimoji="1" lang="zh-CN" altLang="en-US" dirty="0"/>
          </a:p>
        </p:txBody>
      </p:sp>
      <p:sp>
        <p:nvSpPr>
          <p:cNvPr id="4" name="Slide Number Placeholder 3"/>
          <p:cNvSpPr>
            <a:spLocks noGrp="1"/>
          </p:cNvSpPr>
          <p:nvPr>
            <p:ph type="sldNum" sz="quarter" idx="5"/>
          </p:nvPr>
        </p:nvSpPr>
        <p:spPr/>
        <p:txBody>
          <a:bodyPr/>
          <a:lstStyle/>
          <a:p>
            <a:fld id="{1D8BC718-3735-C94A-B278-4A852E661EEC}" type="slidenum">
              <a:rPr kumimoji="1" lang="zh-CN" altLang="en-US" smtClean="0"/>
              <a:t>23</a:t>
            </a:fld>
            <a:endParaRPr kumimoji="1" lang="zh-CN" altLang="en-US"/>
          </a:p>
        </p:txBody>
      </p:sp>
    </p:spTree>
    <p:extLst>
      <p:ext uri="{BB962C8B-B14F-4D97-AF65-F5344CB8AC3E}">
        <p14:creationId xmlns:p14="http://schemas.microsoft.com/office/powerpoint/2010/main" val="32230482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buNone/>
            </a:pPr>
            <a:r>
              <a:rPr lang="en-US" b="0" dirty="0">
                <a:solidFill>
                  <a:srgbClr val="000000"/>
                </a:solidFill>
                <a:effectLst/>
                <a:latin typeface="Menlo" panose="020B0609030804020204" pitchFamily="49" charset="0"/>
              </a:rPr>
              <a:t>To address rating reliability, I implemented a shrinkage estimator adjusting ratings toward the mean:</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Burger King: +0.97 (1.80 → 2.77)</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Evanston Games &amp; Cafe: -1.21 (5.00 → 3.79)</a:t>
            </a:r>
          </a:p>
          <a:p>
            <a:pPr>
              <a:lnSpc>
                <a:spcPts val="1350"/>
              </a:lnSpc>
            </a:pPr>
            <a:r>
              <a:rPr lang="en-US" b="0" dirty="0">
                <a:solidFill>
                  <a:srgbClr val="008000"/>
                </a:solidFill>
                <a:effectLst/>
                <a:latin typeface="Menlo" panose="020B0609030804020204" pitchFamily="49" charset="0"/>
              </a:rPr>
              <a:t>&lt;!-- This creates a more balanced recommendation system that's less susceptible to outliers and rating inflation. --&gt;</a:t>
            </a:r>
            <a:endParaRPr lang="en-US" b="0" dirty="0">
              <a:solidFill>
                <a:srgbClr val="000000"/>
              </a:solidFill>
              <a:effectLst/>
              <a:latin typeface="Menlo" panose="020B0609030804020204" pitchFamily="49" charset="0"/>
            </a:endParaRPr>
          </a:p>
          <a:p>
            <a:endParaRPr kumimoji="1" lang="zh-CN" altLang="en-US" dirty="0"/>
          </a:p>
        </p:txBody>
      </p:sp>
      <p:sp>
        <p:nvSpPr>
          <p:cNvPr id="4" name="Slide Number Placeholder 3"/>
          <p:cNvSpPr>
            <a:spLocks noGrp="1"/>
          </p:cNvSpPr>
          <p:nvPr>
            <p:ph type="sldNum" sz="quarter" idx="5"/>
          </p:nvPr>
        </p:nvSpPr>
        <p:spPr/>
        <p:txBody>
          <a:bodyPr/>
          <a:lstStyle/>
          <a:p>
            <a:fld id="{1D8BC718-3735-C94A-B278-4A852E661EEC}" type="slidenum">
              <a:rPr kumimoji="1" lang="zh-CN" altLang="en-US" smtClean="0"/>
              <a:t>24</a:t>
            </a:fld>
            <a:endParaRPr kumimoji="1" lang="zh-CN" altLang="en-US"/>
          </a:p>
        </p:txBody>
      </p:sp>
    </p:spTree>
    <p:extLst>
      <p:ext uri="{BB962C8B-B14F-4D97-AF65-F5344CB8AC3E}">
        <p14:creationId xmlns:p14="http://schemas.microsoft.com/office/powerpoint/2010/main" val="35177269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buNone/>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For text-based recommendations, I:</a:t>
            </a:r>
          </a:p>
          <a:p>
            <a:pPr>
              <a:lnSpc>
                <a:spcPts val="1350"/>
              </a:lnSpc>
              <a:buNone/>
            </a:pPr>
            <a:r>
              <a:rPr lang="en-US" b="0" dirty="0">
                <a:solidFill>
                  <a:srgbClr val="0451A5"/>
                </a:solidFill>
                <a:effectLst/>
                <a:latin typeface="Menlo" panose="020B0609030804020204" pitchFamily="49" charset="0"/>
              </a:rPr>
              <a:t>1.</a:t>
            </a:r>
            <a:r>
              <a:rPr lang="en-US" b="0" dirty="0">
                <a:solidFill>
                  <a:srgbClr val="000000"/>
                </a:solidFill>
                <a:effectLst/>
                <a:latin typeface="Menlo" panose="020B0609030804020204" pitchFamily="49" charset="0"/>
              </a:rPr>
              <a:t> Augmented restaurant descriptions with cuisine type</a:t>
            </a:r>
          </a:p>
          <a:p>
            <a:pPr>
              <a:lnSpc>
                <a:spcPts val="1350"/>
              </a:lnSpc>
              <a:buNone/>
            </a:pPr>
            <a:r>
              <a:rPr lang="en-US" b="0" dirty="0">
                <a:solidFill>
                  <a:srgbClr val="0451A5"/>
                </a:solidFill>
                <a:effectLst/>
                <a:latin typeface="Menlo" panose="020B0609030804020204" pitchFamily="49" charset="0"/>
              </a:rPr>
              <a:t>2.</a:t>
            </a:r>
            <a:r>
              <a:rPr lang="en-US" b="0" dirty="0">
                <a:solidFill>
                  <a:srgbClr val="000000"/>
                </a:solidFill>
                <a:effectLst/>
                <a:latin typeface="Menlo" panose="020B0609030804020204" pitchFamily="49" charset="0"/>
              </a:rPr>
              <a:t> Removed common stop words</a:t>
            </a:r>
          </a:p>
          <a:p>
            <a:pPr>
              <a:lnSpc>
                <a:spcPts val="1350"/>
              </a:lnSpc>
              <a:buNone/>
            </a:pPr>
            <a:r>
              <a:rPr lang="en-US" b="0" dirty="0">
                <a:solidFill>
                  <a:srgbClr val="0451A5"/>
                </a:solidFill>
                <a:effectLst/>
                <a:latin typeface="Menlo" panose="020B0609030804020204" pitchFamily="49" charset="0"/>
              </a:rPr>
              <a:t>3.</a:t>
            </a:r>
            <a:r>
              <a:rPr lang="en-US" b="0" dirty="0">
                <a:solidFill>
                  <a:srgbClr val="000000"/>
                </a:solidFill>
                <a:effectLst/>
                <a:latin typeface="Menlo" panose="020B0609030804020204" pitchFamily="49" charset="0"/>
              </a:rPr>
              <a:t> Computed TF-IDF scores for distinctive terms</a:t>
            </a:r>
          </a:p>
          <a:p>
            <a:pPr>
              <a:lnSpc>
                <a:spcPts val="1350"/>
              </a:lnSpc>
              <a:buNone/>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Key findings:</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"Cozy" had highest TF-IDF score for Taste of Nepal (0.289)</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"Chinese" had highest score for Lao Sze Chuan (0.458)</a:t>
            </a:r>
          </a:p>
          <a:p>
            <a:pPr>
              <a:lnSpc>
                <a:spcPts val="1350"/>
              </a:lnSpc>
              <a:buNone/>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TF-IDF vector distances revealed meaningful similarities:</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Burger King vs. </a:t>
            </a:r>
            <a:r>
              <a:rPr lang="en-US" b="0" dirty="0" err="1">
                <a:solidFill>
                  <a:srgbClr val="000000"/>
                </a:solidFill>
                <a:effectLst/>
                <a:latin typeface="Menlo" panose="020B0609030804020204" pitchFamily="49" charset="0"/>
              </a:rPr>
              <a:t>Edzo's</a:t>
            </a:r>
            <a:r>
              <a:rPr lang="en-US" b="0" dirty="0">
                <a:solidFill>
                  <a:srgbClr val="000000"/>
                </a:solidFill>
                <a:effectLst/>
                <a:latin typeface="Menlo" panose="020B0609030804020204" pitchFamily="49" charset="0"/>
              </a:rPr>
              <a:t> Burger Shop: 0.520</a:t>
            </a:r>
          </a:p>
          <a:p>
            <a:pPr>
              <a:lnSpc>
                <a:spcPts val="1350"/>
              </a:lnSpc>
              <a:buNone/>
            </a:pPr>
            <a:r>
              <a:rPr lang="en-US" b="0" dirty="0">
                <a:solidFill>
                  <a:srgbClr val="0451A5"/>
                </a:solidFill>
                <a:effectLst/>
                <a:latin typeface="Menlo" panose="020B0609030804020204" pitchFamily="49" charset="0"/>
              </a:rPr>
              <a:t>-</a:t>
            </a:r>
            <a:r>
              <a:rPr lang="en-US" b="0" dirty="0">
                <a:solidFill>
                  <a:srgbClr val="000000"/>
                </a:solidFill>
                <a:effectLst/>
                <a:latin typeface="Menlo" panose="020B0609030804020204" pitchFamily="49" charset="0"/>
              </a:rPr>
              <a:t> Burger King vs. </a:t>
            </a:r>
            <a:r>
              <a:rPr lang="en-US" b="0" dirty="0" err="1">
                <a:solidFill>
                  <a:srgbClr val="000000"/>
                </a:solidFill>
                <a:effectLst/>
                <a:latin typeface="Menlo" panose="020B0609030804020204" pitchFamily="49" charset="0"/>
              </a:rPr>
              <a:t>Oceanique</a:t>
            </a:r>
            <a:r>
              <a:rPr lang="en-US" b="0" dirty="0">
                <a:solidFill>
                  <a:srgbClr val="000000"/>
                </a:solidFill>
                <a:effectLst/>
                <a:latin typeface="Menlo" panose="020B0609030804020204" pitchFamily="49" charset="0"/>
              </a:rPr>
              <a:t> (seafood): 0.999</a:t>
            </a:r>
          </a:p>
          <a:p>
            <a:pPr>
              <a:lnSpc>
                <a:spcPts val="1350"/>
              </a:lnSpc>
              <a:buNone/>
            </a:pPr>
            <a:br>
              <a:rPr lang="en-US" b="0" dirty="0">
                <a:solidFill>
                  <a:srgbClr val="000000"/>
                </a:solidFill>
                <a:effectLst/>
                <a:latin typeface="Menlo" panose="020B0609030804020204" pitchFamily="49" charset="0"/>
              </a:rPr>
            </a:br>
            <a:r>
              <a:rPr lang="en-US" b="0" dirty="0">
                <a:solidFill>
                  <a:srgbClr val="000000"/>
                </a:solidFill>
                <a:effectLst/>
                <a:latin typeface="Menlo" panose="020B0609030804020204" pitchFamily="49" charset="0"/>
              </a:rPr>
              <a:t>This approach captures nuanced aspects like ambiance and specialties beyond structured data, enhancing recommendations by identifying cross-cuisine similarities based on descriptive elements.</a:t>
            </a:r>
          </a:p>
          <a:p>
            <a:pPr>
              <a:lnSpc>
                <a:spcPts val="1350"/>
              </a:lnSpc>
            </a:pPr>
            <a:br>
              <a:rPr lang="en-US" b="0" dirty="0">
                <a:solidFill>
                  <a:srgbClr val="000000"/>
                </a:solidFill>
                <a:effectLst/>
                <a:latin typeface="Menlo" panose="020B0609030804020204" pitchFamily="49" charset="0"/>
              </a:rPr>
            </a:br>
            <a:endParaRPr lang="en-US" b="0" dirty="0">
              <a:solidFill>
                <a:srgbClr val="000000"/>
              </a:solidFill>
              <a:effectLst/>
              <a:latin typeface="Menlo" panose="020B0609030804020204" pitchFamily="49" charset="0"/>
            </a:endParaRPr>
          </a:p>
          <a:p>
            <a:endParaRPr kumimoji="1" lang="zh-CN" altLang="en-US" dirty="0"/>
          </a:p>
        </p:txBody>
      </p:sp>
      <p:sp>
        <p:nvSpPr>
          <p:cNvPr id="4" name="Slide Number Placeholder 3"/>
          <p:cNvSpPr>
            <a:spLocks noGrp="1"/>
          </p:cNvSpPr>
          <p:nvPr>
            <p:ph type="sldNum" sz="quarter" idx="5"/>
          </p:nvPr>
        </p:nvSpPr>
        <p:spPr/>
        <p:txBody>
          <a:bodyPr/>
          <a:lstStyle/>
          <a:p>
            <a:fld id="{1D8BC718-3735-C94A-B278-4A852E661EEC}" type="slidenum">
              <a:rPr kumimoji="1" lang="zh-CN" altLang="en-US" smtClean="0"/>
              <a:t>26</a:t>
            </a:fld>
            <a:endParaRPr kumimoji="1" lang="zh-CN" altLang="en-US"/>
          </a:p>
        </p:txBody>
      </p:sp>
    </p:spTree>
    <p:extLst>
      <p:ext uri="{BB962C8B-B14F-4D97-AF65-F5344CB8AC3E}">
        <p14:creationId xmlns:p14="http://schemas.microsoft.com/office/powerpoint/2010/main" val="1216820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4/29/25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Evanston Restaurant Recommender System</a:t>
            </a:r>
          </a:p>
        </p:txBody>
      </p:sp>
      <p:sp>
        <p:nvSpPr>
          <p:cNvPr id="3" name="Subtitle 2"/>
          <p:cNvSpPr>
            <a:spLocks noGrp="1"/>
          </p:cNvSpPr>
          <p:nvPr>
            <p:ph type="subTitle" idx="1"/>
          </p:nvPr>
        </p:nvSpPr>
        <p:spPr/>
        <p:txBody>
          <a:bodyPr/>
          <a:lstStyle/>
          <a:p>
            <a:r>
              <a:rPr dirty="0"/>
              <a:t>STAT 415: Homework 2</a:t>
            </a:r>
            <a:endParaRPr lang="en-US" dirty="0"/>
          </a:p>
          <a:p>
            <a:r>
              <a:rPr lang="en-CN" i="1" dirty="0"/>
              <a:t>Xinhui Qian</a:t>
            </a:r>
            <a:endParaRPr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a:extLst>
              <a:ext uri="{FF2B5EF4-FFF2-40B4-BE49-F238E27FC236}">
                <a16:creationId xmlns:a16="http://schemas.microsoft.com/office/drawing/2014/main" id="{362810D9-2C5A-477D-949C-C191895477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67"/>
            <a:ext cx="9143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A3E20350-4756-1CEE-B882-4C1A2DFC6FDC}"/>
              </a:ext>
            </a:extLst>
          </p:cNvPr>
          <p:cNvPicPr>
            <a:picLocks noChangeAspect="1"/>
          </p:cNvPicPr>
          <p:nvPr/>
        </p:nvPicPr>
        <p:blipFill>
          <a:blip r:embed="rId3">
            <a:alphaModFix amt="55000"/>
          </a:blip>
          <a:srcRect l="11667" r="-1" b="-1"/>
          <a:stretch/>
        </p:blipFill>
        <p:spPr>
          <a:xfrm>
            <a:off x="0" y="180865"/>
            <a:ext cx="9143980" cy="6858000"/>
          </a:xfrm>
          <a:prstGeom prst="rect">
            <a:avLst/>
          </a:prstGeom>
        </p:spPr>
      </p:pic>
      <p:sp>
        <p:nvSpPr>
          <p:cNvPr id="2" name="Title 1"/>
          <p:cNvSpPr>
            <a:spLocks noGrp="1"/>
          </p:cNvSpPr>
          <p:nvPr>
            <p:ph type="title"/>
          </p:nvPr>
        </p:nvSpPr>
        <p:spPr>
          <a:xfrm>
            <a:off x="515125" y="591344"/>
            <a:ext cx="2400300" cy="5585619"/>
          </a:xfrm>
        </p:spPr>
        <p:txBody>
          <a:bodyPr>
            <a:normAutofit/>
          </a:bodyPr>
          <a:lstStyle/>
          <a:p>
            <a:r>
              <a:rPr lang="en-US" sz="3400" dirty="0">
                <a:solidFill>
                  <a:srgbClr val="FFFFFF"/>
                </a:solidFill>
              </a:rPr>
              <a:t>Project Introduction</a:t>
            </a:r>
          </a:p>
        </p:txBody>
      </p:sp>
      <p:sp>
        <p:nvSpPr>
          <p:cNvPr id="11" name="Arc 1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3335481" y="591344"/>
            <a:ext cx="5179868" cy="5585619"/>
          </a:xfrm>
        </p:spPr>
        <p:txBody>
          <a:bodyPr anchor="ctr">
            <a:normAutofit/>
          </a:bodyPr>
          <a:lstStyle/>
          <a:p>
            <a:endParaRPr lang="en-US" dirty="0">
              <a:solidFill>
                <a:srgbClr val="FFFFFF"/>
              </a:solidFill>
            </a:endParaRPr>
          </a:p>
          <a:p>
            <a:pPr>
              <a:defRPr sz="1400"/>
            </a:pPr>
            <a:r>
              <a:rPr lang="en-US" dirty="0">
                <a:solidFill>
                  <a:srgbClr val="FFFFFF"/>
                </a:solidFill>
              </a:rPr>
              <a:t>Analyze restaurant reviews from Evanston, IL.</a:t>
            </a:r>
          </a:p>
          <a:p>
            <a:pPr>
              <a:defRPr sz="1400"/>
            </a:pPr>
            <a:r>
              <a:rPr lang="en-US" dirty="0">
                <a:solidFill>
                  <a:srgbClr val="FFFFFF"/>
                </a:solidFill>
              </a:rPr>
              <a:t>Dataset: 68 restaurants, 1,500 reviews.</a:t>
            </a:r>
          </a:p>
          <a:p>
            <a:pPr>
              <a:defRPr sz="1400"/>
            </a:pPr>
            <a:r>
              <a:rPr lang="en-US" dirty="0">
                <a:solidFill>
                  <a:srgbClr val="FFFFFF"/>
                </a:solidFill>
              </a:rPr>
              <a:t>Goals: evaluate recommendation methods: popularity, content‑based, text‑based.</a:t>
            </a:r>
          </a:p>
          <a:p>
            <a:pPr>
              <a:defRPr sz="1400"/>
            </a:pPr>
            <a:r>
              <a:rPr lang="en-US" dirty="0">
                <a:solidFill>
                  <a:srgbClr val="FFFFFF"/>
                </a:solidFill>
              </a:rPr>
              <a:t>Data includes restaurant attributes &amp; reviewer demographics.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Presentation Overview</a:t>
            </a:r>
          </a:p>
        </p:txBody>
      </p:sp>
      <p:sp>
        <p:nvSpPr>
          <p:cNvPr id="3" name="Content Placeholder 2"/>
          <p:cNvSpPr>
            <a:spLocks noGrp="1"/>
          </p:cNvSpPr>
          <p:nvPr>
            <p:ph idx="1"/>
          </p:nvPr>
        </p:nvSpPr>
        <p:spPr/>
        <p:txBody>
          <a:bodyPr>
            <a:normAutofit/>
          </a:bodyPr>
          <a:lstStyle/>
          <a:p>
            <a:endParaRPr sz="2000" dirty="0"/>
          </a:p>
          <a:p>
            <a:pPr>
              <a:defRPr sz="1400"/>
            </a:pPr>
            <a:r>
              <a:rPr sz="2000" dirty="0"/>
              <a:t>1. Project Introduction</a:t>
            </a:r>
          </a:p>
          <a:p>
            <a:pPr>
              <a:defRPr sz="1400"/>
            </a:pPr>
            <a:r>
              <a:rPr sz="2000" dirty="0"/>
              <a:t>2. Data Preprocessing</a:t>
            </a:r>
          </a:p>
          <a:p>
            <a:pPr>
              <a:defRPr sz="1400"/>
            </a:pPr>
            <a:r>
              <a:rPr sz="2000" dirty="0"/>
              <a:t>3. Exploratory Data Analysis</a:t>
            </a:r>
          </a:p>
          <a:p>
            <a:pPr>
              <a:defRPr sz="1400"/>
            </a:pPr>
            <a:r>
              <a:rPr sz="2000" dirty="0"/>
              <a:t>4. </a:t>
            </a:r>
            <a:r>
              <a:rPr lang="en-US" sz="2000" dirty="0"/>
              <a:t>Content‑Based Filtering </a:t>
            </a:r>
            <a:endParaRPr sz="2000" dirty="0"/>
          </a:p>
          <a:p>
            <a:pPr>
              <a:defRPr sz="1400"/>
            </a:pPr>
            <a:r>
              <a:rPr sz="2000" dirty="0"/>
              <a:t>5. </a:t>
            </a:r>
            <a:r>
              <a:rPr lang="en-US" sz="2000" dirty="0"/>
              <a:t>Popularity Matching</a:t>
            </a:r>
            <a:endParaRPr sz="2000" dirty="0"/>
          </a:p>
          <a:p>
            <a:pPr>
              <a:defRPr sz="1400"/>
            </a:pPr>
            <a:r>
              <a:rPr sz="2000" dirty="0"/>
              <a:t>6. Natural Language Analysis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Preprocessing Steps</a:t>
            </a:r>
          </a:p>
        </p:txBody>
      </p:sp>
      <p:sp>
        <p:nvSpPr>
          <p:cNvPr id="3" name="Content Placeholder 2"/>
          <p:cNvSpPr>
            <a:spLocks noGrp="1"/>
          </p:cNvSpPr>
          <p:nvPr>
            <p:ph idx="1"/>
          </p:nvPr>
        </p:nvSpPr>
        <p:spPr/>
        <p:txBody>
          <a:bodyPr/>
          <a:lstStyle/>
          <a:p>
            <a:r>
              <a:rPr lang="en-CN" dirty="0"/>
              <a:t>Dataset Structure</a:t>
            </a:r>
          </a:p>
          <a:p>
            <a:pPr>
              <a:defRPr sz="1400"/>
            </a:pPr>
            <a:r>
              <a:rPr lang="en-US" dirty="0"/>
              <a:t>Restaurants (68): cuisine, cost, location, descriptions.</a:t>
            </a:r>
          </a:p>
          <a:p>
            <a:pPr>
              <a:defRPr sz="1400"/>
            </a:pPr>
            <a:r>
              <a:rPr lang="en-US" dirty="0"/>
              <a:t>Reviews (1,500): 1‑5 ratings, 14 demographic variables, review text.</a:t>
            </a:r>
          </a:p>
          <a:p>
            <a:pPr>
              <a:defRPr sz="1400"/>
            </a:pPr>
            <a:r>
              <a:rPr lang="en-US" dirty="0"/>
              <a:t>Outcome variable: star rating.</a:t>
            </a:r>
          </a:p>
          <a:p>
            <a:r>
              <a:rPr lang="en-US" dirty="0"/>
              <a:t>Preprocessing Steps</a:t>
            </a:r>
            <a:endParaRPr dirty="0"/>
          </a:p>
          <a:p>
            <a:pPr>
              <a:defRPr sz="1400"/>
            </a:pPr>
            <a:r>
              <a:rPr dirty="0"/>
              <a:t>Removed 7 duplicate reviews &amp; fixed category labels</a:t>
            </a:r>
            <a:r>
              <a:rPr lang="en-US" dirty="0"/>
              <a:t> Marital Status</a:t>
            </a:r>
            <a:r>
              <a:rPr dirty="0"/>
              <a:t>.</a:t>
            </a:r>
          </a:p>
          <a:p>
            <a:pPr>
              <a:defRPr sz="1400"/>
            </a:pPr>
            <a:r>
              <a:rPr dirty="0"/>
              <a:t>Corrected longitude formatting &amp; name typos.</a:t>
            </a:r>
          </a:p>
          <a:p>
            <a:pPr>
              <a:defRPr sz="1400"/>
            </a:pPr>
            <a:r>
              <a:rPr dirty="0"/>
              <a:t>Standardized date‑time format.</a:t>
            </a:r>
          </a:p>
          <a:p>
            <a:pPr>
              <a:defRPr sz="1400"/>
            </a:pPr>
            <a:r>
              <a:rPr dirty="0"/>
              <a:t>Merged restaurant &amp; review tables on restaurant </a:t>
            </a:r>
            <a:r>
              <a:rPr sz="1400" dirty="0"/>
              <a:t>ID.</a:t>
            </a:r>
            <a:endParaRPr lang="en-US" sz="1400" dirty="0"/>
          </a:p>
          <a:p>
            <a:pPr>
              <a:defRPr sz="1400"/>
            </a:pPr>
            <a:r>
              <a:rPr lang="en-US" sz="1400" dirty="0"/>
              <a:t>Corrected restaurant name variants (e.g., "Claire's Korner" spelling differences)</a:t>
            </a:r>
            <a:endParaRPr dirty="0"/>
          </a:p>
          <a:p>
            <a:pPr>
              <a:defRPr sz="1400"/>
            </a:pPr>
            <a:r>
              <a:rPr dirty="0"/>
              <a:t>Normalized categorical &amp; geographic variables.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5B1FC96-0749-41C9-BAED-E089E7714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202" y="4562856"/>
            <a:ext cx="2564892" cy="1600200"/>
          </a:xfrm>
        </p:spPr>
        <p:txBody>
          <a:bodyPr anchor="ctr">
            <a:normAutofit/>
          </a:bodyPr>
          <a:lstStyle/>
          <a:p>
            <a:pPr>
              <a:lnSpc>
                <a:spcPct val="90000"/>
              </a:lnSpc>
            </a:pPr>
            <a:r>
              <a:rPr lang="en-US" sz="3300"/>
              <a:t>Restaurants Geographical Distribution</a:t>
            </a:r>
          </a:p>
        </p:txBody>
      </p:sp>
      <p:pic>
        <p:nvPicPr>
          <p:cNvPr id="6" name="Picture 5">
            <a:extLst>
              <a:ext uri="{FF2B5EF4-FFF2-40B4-BE49-F238E27FC236}">
                <a16:creationId xmlns:a16="http://schemas.microsoft.com/office/drawing/2014/main" id="{B8A72CEE-C7CB-9F11-D392-94F2714B08B5}"/>
              </a:ext>
            </a:extLst>
          </p:cNvPr>
          <p:cNvPicPr>
            <a:picLocks noChangeAspect="1"/>
          </p:cNvPicPr>
          <p:nvPr/>
        </p:nvPicPr>
        <p:blipFill>
          <a:blip r:embed="rId3"/>
          <a:srcRect l="23160" r="4659"/>
          <a:stretch/>
        </p:blipFill>
        <p:spPr>
          <a:xfrm>
            <a:off x="3" y="10"/>
            <a:ext cx="4571997" cy="4196271"/>
          </a:xfrm>
          <a:custGeom>
            <a:avLst/>
            <a:gdLst/>
            <a:ahLst/>
            <a:cxnLst/>
            <a:rect l="l" t="t" r="r" b="b"/>
            <a:pathLst>
              <a:path w="6005375" h="4196281">
                <a:moveTo>
                  <a:pt x="0" y="0"/>
                </a:moveTo>
                <a:lnTo>
                  <a:pt x="6000672" y="0"/>
                </a:lnTo>
                <a:lnTo>
                  <a:pt x="5998730" y="19709"/>
                </a:lnTo>
                <a:cubicBezTo>
                  <a:pt x="6001245" y="280059"/>
                  <a:pt x="5986415" y="540409"/>
                  <a:pt x="5999656" y="800631"/>
                </a:cubicBezTo>
                <a:cubicBezTo>
                  <a:pt x="6009855" y="1001996"/>
                  <a:pt x="6003364" y="1203233"/>
                  <a:pt x="5999656" y="1404471"/>
                </a:cubicBezTo>
                <a:cubicBezTo>
                  <a:pt x="5992506" y="1790420"/>
                  <a:pt x="6003364" y="2175860"/>
                  <a:pt x="5998730" y="2561300"/>
                </a:cubicBezTo>
                <a:cubicBezTo>
                  <a:pt x="5996744" y="2732154"/>
                  <a:pt x="5998994" y="2902754"/>
                  <a:pt x="6003364" y="3073609"/>
                </a:cubicBezTo>
                <a:cubicBezTo>
                  <a:pt x="6009720" y="3317560"/>
                  <a:pt x="5999923" y="3561638"/>
                  <a:pt x="5989197" y="3805463"/>
                </a:cubicBezTo>
                <a:cubicBezTo>
                  <a:pt x="5985594" y="3872508"/>
                  <a:pt x="5984647" y="3939633"/>
                  <a:pt x="5986348" y="4006695"/>
                </a:cubicBezTo>
                <a:lnTo>
                  <a:pt x="5997254" y="4174633"/>
                </a:lnTo>
                <a:lnTo>
                  <a:pt x="5951601" y="4176620"/>
                </a:lnTo>
                <a:cubicBezTo>
                  <a:pt x="5886702" y="4176651"/>
                  <a:pt x="5821788" y="4174749"/>
                  <a:pt x="5756905" y="4173480"/>
                </a:cubicBezTo>
                <a:cubicBezTo>
                  <a:pt x="5518559" y="4169040"/>
                  <a:pt x="5280086" y="4173480"/>
                  <a:pt x="5042247" y="4150774"/>
                </a:cubicBezTo>
                <a:cubicBezTo>
                  <a:pt x="4977618" y="4144622"/>
                  <a:pt x="4912546" y="4140690"/>
                  <a:pt x="4847600" y="4141467"/>
                </a:cubicBezTo>
                <a:cubicBezTo>
                  <a:pt x="4782655" y="4142244"/>
                  <a:pt x="4717835" y="4147730"/>
                  <a:pt x="4653713" y="4160414"/>
                </a:cubicBezTo>
                <a:cubicBezTo>
                  <a:pt x="4446571" y="4200625"/>
                  <a:pt x="4238796" y="4203162"/>
                  <a:pt x="4029497" y="4186925"/>
                </a:cubicBezTo>
                <a:cubicBezTo>
                  <a:pt x="3943621" y="4180203"/>
                  <a:pt x="3857746" y="4169040"/>
                  <a:pt x="3771489" y="4171196"/>
                </a:cubicBezTo>
                <a:cubicBezTo>
                  <a:pt x="3623585" y="4175129"/>
                  <a:pt x="3475554" y="4167137"/>
                  <a:pt x="3327523" y="4169167"/>
                </a:cubicBezTo>
                <a:cubicBezTo>
                  <a:pt x="3323528" y="4169738"/>
                  <a:pt x="3319443" y="4169205"/>
                  <a:pt x="3315727" y="4167645"/>
                </a:cubicBezTo>
                <a:cubicBezTo>
                  <a:pt x="3278941" y="4142402"/>
                  <a:pt x="3238603" y="4152169"/>
                  <a:pt x="3200549" y="4158765"/>
                </a:cubicBezTo>
                <a:cubicBezTo>
                  <a:pt x="3074082" y="4180710"/>
                  <a:pt x="2947742" y="4191492"/>
                  <a:pt x="2819246" y="4174494"/>
                </a:cubicBezTo>
                <a:cubicBezTo>
                  <a:pt x="2696546" y="4156698"/>
                  <a:pt x="2572096" y="4154478"/>
                  <a:pt x="2448851" y="4167898"/>
                </a:cubicBezTo>
                <a:cubicBezTo>
                  <a:pt x="2279383" y="4187687"/>
                  <a:pt x="2110549" y="4183501"/>
                  <a:pt x="1941462" y="4167898"/>
                </a:cubicBezTo>
                <a:cubicBezTo>
                  <a:pt x="1872837" y="4161556"/>
                  <a:pt x="1803198" y="4150774"/>
                  <a:pt x="1735208" y="4166630"/>
                </a:cubicBezTo>
                <a:cubicBezTo>
                  <a:pt x="1651489" y="4186038"/>
                  <a:pt x="1568023" y="4179695"/>
                  <a:pt x="1484050" y="4175382"/>
                </a:cubicBezTo>
                <a:cubicBezTo>
                  <a:pt x="1377752" y="4169801"/>
                  <a:pt x="1271708" y="4153692"/>
                  <a:pt x="1165029" y="4166376"/>
                </a:cubicBezTo>
                <a:cubicBezTo>
                  <a:pt x="1115685" y="4172211"/>
                  <a:pt x="1066722" y="4181471"/>
                  <a:pt x="1016744" y="4179061"/>
                </a:cubicBezTo>
                <a:cubicBezTo>
                  <a:pt x="878481" y="4172719"/>
                  <a:pt x="740344" y="4165235"/>
                  <a:pt x="601826" y="4166376"/>
                </a:cubicBezTo>
                <a:cubicBezTo>
                  <a:pt x="543857" y="4166757"/>
                  <a:pt x="486268" y="4168659"/>
                  <a:pt x="428553" y="4172845"/>
                </a:cubicBezTo>
                <a:cubicBezTo>
                  <a:pt x="320859" y="4180710"/>
                  <a:pt x="213546" y="4170055"/>
                  <a:pt x="106234" y="4166249"/>
                </a:cubicBezTo>
                <a:lnTo>
                  <a:pt x="0" y="4171008"/>
                </a:lnTo>
                <a:close/>
              </a:path>
            </a:pathLst>
          </a:custGeom>
        </p:spPr>
      </p:pic>
      <p:pic>
        <p:nvPicPr>
          <p:cNvPr id="7" name="Picture 6">
            <a:extLst>
              <a:ext uri="{FF2B5EF4-FFF2-40B4-BE49-F238E27FC236}">
                <a16:creationId xmlns:a16="http://schemas.microsoft.com/office/drawing/2014/main" id="{8BF5DE2F-5606-6BF9-C848-CC2BFDCA934A}"/>
              </a:ext>
            </a:extLst>
          </p:cNvPr>
          <p:cNvPicPr>
            <a:picLocks noChangeAspect="1"/>
          </p:cNvPicPr>
          <p:nvPr/>
        </p:nvPicPr>
        <p:blipFill>
          <a:blip r:embed="rId4"/>
          <a:srcRect l="15451" r="6338" b="-3"/>
          <a:stretch/>
        </p:blipFill>
        <p:spPr>
          <a:xfrm>
            <a:off x="4514850" y="10"/>
            <a:ext cx="4629146" cy="4187662"/>
          </a:xfrm>
          <a:custGeom>
            <a:avLst/>
            <a:gdLst/>
            <a:ahLst/>
            <a:cxnLst/>
            <a:rect l="l" t="t" r="r" b="b"/>
            <a:pathLst>
              <a:path w="6006950" h="4187672">
                <a:moveTo>
                  <a:pt x="9223" y="0"/>
                </a:moveTo>
                <a:lnTo>
                  <a:pt x="6006950" y="0"/>
                </a:lnTo>
                <a:lnTo>
                  <a:pt x="6006950" y="4169490"/>
                </a:lnTo>
                <a:lnTo>
                  <a:pt x="5787907" y="4174448"/>
                </a:lnTo>
                <a:cubicBezTo>
                  <a:pt x="5713866" y="4173475"/>
                  <a:pt x="5639861" y="4169853"/>
                  <a:pt x="5566029" y="4163587"/>
                </a:cubicBezTo>
                <a:cubicBezTo>
                  <a:pt x="5458843" y="4155595"/>
                  <a:pt x="5350768" y="4144559"/>
                  <a:pt x="5244343" y="4164855"/>
                </a:cubicBezTo>
                <a:cubicBezTo>
                  <a:pt x="5127517" y="4187307"/>
                  <a:pt x="5010817" y="4187434"/>
                  <a:pt x="4892977" y="4181726"/>
                </a:cubicBezTo>
                <a:cubicBezTo>
                  <a:pt x="4792260" y="4176906"/>
                  <a:pt x="4691923" y="4151536"/>
                  <a:pt x="4590445" y="4178301"/>
                </a:cubicBezTo>
                <a:cubicBezTo>
                  <a:pt x="4580348" y="4179772"/>
                  <a:pt x="4570061" y="4179341"/>
                  <a:pt x="4560128" y="4177032"/>
                </a:cubicBezTo>
                <a:cubicBezTo>
                  <a:pt x="4449137" y="4161684"/>
                  <a:pt x="4337384" y="4174242"/>
                  <a:pt x="4226013" y="4169929"/>
                </a:cubicBezTo>
                <a:cubicBezTo>
                  <a:pt x="4174640" y="4167899"/>
                  <a:pt x="4122252" y="4169041"/>
                  <a:pt x="4071513" y="4163587"/>
                </a:cubicBezTo>
                <a:cubicBezTo>
                  <a:pt x="3955067" y="4151156"/>
                  <a:pt x="3838874" y="4144559"/>
                  <a:pt x="3723697" y="4173861"/>
                </a:cubicBezTo>
                <a:cubicBezTo>
                  <a:pt x="3690082" y="4181764"/>
                  <a:pt x="3655732" y="4186013"/>
                  <a:pt x="3621204" y="4186546"/>
                </a:cubicBezTo>
                <a:cubicBezTo>
                  <a:pt x="3508437" y="4190605"/>
                  <a:pt x="3396050" y="4182867"/>
                  <a:pt x="3283664" y="4176525"/>
                </a:cubicBezTo>
                <a:cubicBezTo>
                  <a:pt x="3205652" y="4172085"/>
                  <a:pt x="3127768" y="4162445"/>
                  <a:pt x="3049630" y="4170563"/>
                </a:cubicBezTo>
                <a:cubicBezTo>
                  <a:pt x="3004218" y="4175257"/>
                  <a:pt x="2958427" y="4175257"/>
                  <a:pt x="2913015" y="4170563"/>
                </a:cubicBezTo>
                <a:cubicBezTo>
                  <a:pt x="2829321" y="4160758"/>
                  <a:pt x="2744879" y="4158931"/>
                  <a:pt x="2660842" y="4165109"/>
                </a:cubicBezTo>
                <a:cubicBezTo>
                  <a:pt x="2535390" y="4175891"/>
                  <a:pt x="2410065" y="4184897"/>
                  <a:pt x="2284232" y="4167773"/>
                </a:cubicBezTo>
                <a:cubicBezTo>
                  <a:pt x="2212868" y="4156559"/>
                  <a:pt x="2140312" y="4155240"/>
                  <a:pt x="2068592" y="4163840"/>
                </a:cubicBezTo>
                <a:cubicBezTo>
                  <a:pt x="1897729" y="4187814"/>
                  <a:pt x="1726485" y="4180077"/>
                  <a:pt x="1555241" y="4170183"/>
                </a:cubicBezTo>
                <a:cubicBezTo>
                  <a:pt x="1440824" y="4163460"/>
                  <a:pt x="1325901" y="4151156"/>
                  <a:pt x="1211738" y="4167392"/>
                </a:cubicBezTo>
                <a:cubicBezTo>
                  <a:pt x="1066118" y="4187688"/>
                  <a:pt x="920370" y="4180965"/>
                  <a:pt x="774368" y="4175003"/>
                </a:cubicBezTo>
                <a:cubicBezTo>
                  <a:pt x="667182" y="4170563"/>
                  <a:pt x="559869" y="4157117"/>
                  <a:pt x="452430" y="4173734"/>
                </a:cubicBezTo>
                <a:cubicBezTo>
                  <a:pt x="441369" y="4175244"/>
                  <a:pt x="430117" y="4174115"/>
                  <a:pt x="419576" y="4170436"/>
                </a:cubicBezTo>
                <a:cubicBezTo>
                  <a:pt x="378807" y="4157016"/>
                  <a:pt x="335096" y="4155215"/>
                  <a:pt x="293363" y="4165236"/>
                </a:cubicBezTo>
                <a:cubicBezTo>
                  <a:pt x="216367" y="4182106"/>
                  <a:pt x="139497" y="4189463"/>
                  <a:pt x="61105" y="4174115"/>
                </a:cubicBezTo>
                <a:lnTo>
                  <a:pt x="13323" y="4171265"/>
                </a:lnTo>
                <a:lnTo>
                  <a:pt x="28554" y="3843045"/>
                </a:lnTo>
                <a:cubicBezTo>
                  <a:pt x="30457" y="3722610"/>
                  <a:pt x="27412" y="3602256"/>
                  <a:pt x="15626" y="3482187"/>
                </a:cubicBezTo>
                <a:cubicBezTo>
                  <a:pt x="-847" y="3335690"/>
                  <a:pt x="-4304" y="3188124"/>
                  <a:pt x="5296" y="3041068"/>
                </a:cubicBezTo>
                <a:cubicBezTo>
                  <a:pt x="11786" y="2956911"/>
                  <a:pt x="18539" y="2872754"/>
                  <a:pt x="22776" y="2788472"/>
                </a:cubicBezTo>
                <a:cubicBezTo>
                  <a:pt x="28180" y="2668580"/>
                  <a:pt x="25173" y="2548474"/>
                  <a:pt x="13771" y="2428964"/>
                </a:cubicBezTo>
                <a:cubicBezTo>
                  <a:pt x="4237" y="2337829"/>
                  <a:pt x="3177" y="2246070"/>
                  <a:pt x="10593" y="2154757"/>
                </a:cubicBezTo>
                <a:cubicBezTo>
                  <a:pt x="25690" y="1999286"/>
                  <a:pt x="9931" y="1843813"/>
                  <a:pt x="5032" y="1688466"/>
                </a:cubicBezTo>
                <a:cubicBezTo>
                  <a:pt x="-3577" y="1402691"/>
                  <a:pt x="20393" y="1117045"/>
                  <a:pt x="9666" y="831270"/>
                </a:cubicBezTo>
                <a:cubicBezTo>
                  <a:pt x="3841" y="689908"/>
                  <a:pt x="16420" y="548673"/>
                  <a:pt x="9666" y="407311"/>
                </a:cubicBezTo>
                <a:cubicBezTo>
                  <a:pt x="4105" y="306755"/>
                  <a:pt x="397" y="206200"/>
                  <a:pt x="4105" y="105518"/>
                </a:cubicBezTo>
                <a:cubicBezTo>
                  <a:pt x="5164" y="78059"/>
                  <a:pt x="5826" y="50473"/>
                  <a:pt x="9534" y="23396"/>
                </a:cubicBezTo>
                <a:close/>
              </a:path>
            </a:pathLst>
          </a:custGeom>
        </p:spPr>
      </p:pic>
      <p:sp>
        <p:nvSpPr>
          <p:cNvPr id="24" name="sketch line">
            <a:extLst>
              <a:ext uri="{FF2B5EF4-FFF2-40B4-BE49-F238E27FC236}">
                <a16:creationId xmlns:a16="http://schemas.microsoft.com/office/drawing/2014/main" id="{63C1A86C-B1A8-4AEC-B001-595C91716E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497455" y="5406824"/>
            <a:ext cx="1554480" cy="13716"/>
          </a:xfrm>
          <a:custGeom>
            <a:avLst/>
            <a:gdLst>
              <a:gd name="connsiteX0" fmla="*/ 0 w 1554480"/>
              <a:gd name="connsiteY0" fmla="*/ 0 h 13716"/>
              <a:gd name="connsiteX1" fmla="*/ 549250 w 1554480"/>
              <a:gd name="connsiteY1" fmla="*/ 0 h 13716"/>
              <a:gd name="connsiteX2" fmla="*/ 1082954 w 1554480"/>
              <a:gd name="connsiteY2" fmla="*/ 0 h 13716"/>
              <a:gd name="connsiteX3" fmla="*/ 1554480 w 1554480"/>
              <a:gd name="connsiteY3" fmla="*/ 0 h 13716"/>
              <a:gd name="connsiteX4" fmla="*/ 1554480 w 1554480"/>
              <a:gd name="connsiteY4" fmla="*/ 13716 h 13716"/>
              <a:gd name="connsiteX5" fmla="*/ 1067410 w 1554480"/>
              <a:gd name="connsiteY5" fmla="*/ 13716 h 13716"/>
              <a:gd name="connsiteX6" fmla="*/ 549250 w 1554480"/>
              <a:gd name="connsiteY6" fmla="*/ 13716 h 13716"/>
              <a:gd name="connsiteX7" fmla="*/ 0 w 1554480"/>
              <a:gd name="connsiteY7" fmla="*/ 13716 h 13716"/>
              <a:gd name="connsiteX8" fmla="*/ 0 w 1554480"/>
              <a:gd name="connsiteY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3716"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3820" y="4959"/>
                  <a:pt x="1554594" y="10798"/>
                  <a:pt x="1554480" y="13716"/>
                </a:cubicBezTo>
                <a:cubicBezTo>
                  <a:pt x="1338847" y="1555"/>
                  <a:pt x="1215066" y="33279"/>
                  <a:pt x="1067410" y="13716"/>
                </a:cubicBezTo>
                <a:cubicBezTo>
                  <a:pt x="919754" y="-5847"/>
                  <a:pt x="800465" y="-1492"/>
                  <a:pt x="549250" y="13716"/>
                </a:cubicBezTo>
                <a:cubicBezTo>
                  <a:pt x="298035" y="28924"/>
                  <a:pt x="158868" y="18197"/>
                  <a:pt x="0" y="13716"/>
                </a:cubicBezTo>
                <a:cubicBezTo>
                  <a:pt x="488" y="8630"/>
                  <a:pt x="480" y="6612"/>
                  <a:pt x="0" y="0"/>
                </a:cubicBezTo>
                <a:close/>
              </a:path>
              <a:path w="1554480" h="13716"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232" y="4157"/>
                  <a:pt x="1554673" y="7559"/>
                  <a:pt x="1554480" y="13716"/>
                </a:cubicBezTo>
                <a:cubicBezTo>
                  <a:pt x="1336087" y="7600"/>
                  <a:pt x="1310024" y="15187"/>
                  <a:pt x="1067410" y="13716"/>
                </a:cubicBezTo>
                <a:cubicBezTo>
                  <a:pt x="824796" y="12246"/>
                  <a:pt x="787902" y="30075"/>
                  <a:pt x="518160" y="13716"/>
                </a:cubicBezTo>
                <a:cubicBezTo>
                  <a:pt x="248418" y="-2643"/>
                  <a:pt x="133160" y="4633"/>
                  <a:pt x="0" y="13716"/>
                </a:cubicBezTo>
                <a:cubicBezTo>
                  <a:pt x="43" y="9160"/>
                  <a:pt x="-111" y="481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490720" y="4562856"/>
            <a:ext cx="5177791" cy="1600200"/>
          </a:xfrm>
        </p:spPr>
        <p:txBody>
          <a:bodyPr anchor="ctr">
            <a:normAutofit/>
          </a:bodyPr>
          <a:lstStyle/>
          <a:p>
            <a:endParaRPr lang="en-US" sz="1900"/>
          </a:p>
          <a:p>
            <a:pPr>
              <a:defRPr sz="1400"/>
            </a:pPr>
            <a:r>
              <a:rPr lang="en-US" sz="1900"/>
              <a:t>Major cluster around downtown &amp; Northwestern campus.</a:t>
            </a:r>
          </a:p>
          <a:p>
            <a:pPr>
              <a:defRPr sz="1400"/>
            </a:pPr>
            <a:r>
              <a:rPr lang="en-US" sz="1900"/>
              <a:t>Few outliers north &amp; south of core area.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0759" y="3752849"/>
            <a:ext cx="2468166" cy="2452687"/>
          </a:xfrm>
        </p:spPr>
        <p:txBody>
          <a:bodyPr anchor="ctr">
            <a:normAutofit/>
          </a:bodyPr>
          <a:lstStyle/>
          <a:p>
            <a:r>
              <a:rPr lang="en-US" sz="3100" dirty="0"/>
              <a:t>Missing Values Analysis</a:t>
            </a:r>
          </a:p>
        </p:txBody>
      </p:sp>
      <p:pic>
        <p:nvPicPr>
          <p:cNvPr id="4" name="Picture 3">
            <a:extLst>
              <a:ext uri="{FF2B5EF4-FFF2-40B4-BE49-F238E27FC236}">
                <a16:creationId xmlns:a16="http://schemas.microsoft.com/office/drawing/2014/main" id="{BF225D13-1049-E39A-BC5A-7CCB7CB1C3F1}"/>
              </a:ext>
            </a:extLst>
          </p:cNvPr>
          <p:cNvPicPr>
            <a:picLocks noChangeAspect="1"/>
          </p:cNvPicPr>
          <p:nvPr/>
        </p:nvPicPr>
        <p:blipFill>
          <a:blip r:embed="rId3"/>
          <a:srcRect t="6442" b="12399"/>
          <a:stretch/>
        </p:blipFill>
        <p:spPr>
          <a:xfrm>
            <a:off x="20" y="10"/>
            <a:ext cx="9143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p:cNvSpPr>
            <a:spLocks noGrp="1"/>
          </p:cNvSpPr>
          <p:nvPr>
            <p:ph idx="1"/>
          </p:nvPr>
        </p:nvSpPr>
        <p:spPr>
          <a:xfrm>
            <a:off x="3167986" y="3752850"/>
            <a:ext cx="5614060" cy="2452687"/>
          </a:xfrm>
        </p:spPr>
        <p:txBody>
          <a:bodyPr anchor="ctr">
            <a:normAutofit/>
          </a:bodyPr>
          <a:lstStyle/>
          <a:p>
            <a:endParaRPr lang="en-US" sz="1600" dirty="0"/>
          </a:p>
          <a:p>
            <a:pPr>
              <a:defRPr sz="1400"/>
            </a:pPr>
            <a:r>
              <a:rPr lang="en-US" sz="1600" dirty="0"/>
              <a:t>Review text: 38.4% missing — limits NLP.</a:t>
            </a:r>
          </a:p>
          <a:p>
            <a:pPr>
              <a:defRPr sz="1400"/>
            </a:pPr>
            <a:r>
              <a:rPr lang="en-US" sz="1600" dirty="0"/>
              <a:t>Vegetarian?: 93.7% missing — impute.</a:t>
            </a:r>
          </a:p>
          <a:p>
            <a:pPr>
              <a:defRPr sz="1400"/>
            </a:pPr>
            <a:r>
              <a:rPr lang="en-US" sz="1600" dirty="0"/>
              <a:t>Weight/Height: 6.5% / 3.6% missing — impute.</a:t>
            </a:r>
          </a:p>
          <a:p>
            <a:pPr>
              <a:defRPr sz="1400"/>
            </a:pPr>
            <a:r>
              <a:rPr lang="en-US" sz="1600" dirty="0"/>
              <a:t>Low missingness in birth year, marital status, children.</a:t>
            </a:r>
          </a:p>
          <a:p>
            <a:pPr>
              <a:defRPr sz="1400"/>
            </a:pPr>
            <a:r>
              <a:rPr lang="en-US" sz="1600" dirty="0"/>
              <a:t>Patterns reflect collection priorities &amp; behavior.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Missing Data (Conditional) Imputation Strategy</a:t>
            </a:r>
          </a:p>
        </p:txBody>
      </p:sp>
      <p:graphicFrame>
        <p:nvGraphicFramePr>
          <p:cNvPr id="5" name="Content Placeholder 2">
            <a:extLst>
              <a:ext uri="{FF2B5EF4-FFF2-40B4-BE49-F238E27FC236}">
                <a16:creationId xmlns:a16="http://schemas.microsoft.com/office/drawing/2014/main" id="{5A2D3DB8-C16A-41F7-4905-994CB6F595C0}"/>
              </a:ext>
            </a:extLst>
          </p:cNvPr>
          <p:cNvGraphicFramePr>
            <a:graphicFrameLocks noGrp="1"/>
          </p:cNvGraphicFramePr>
          <p:nvPr>
            <p:ph idx="1"/>
            <p:extLst>
              <p:ext uri="{D42A27DB-BD31-4B8C-83A1-F6EECF244321}">
                <p14:modId xmlns:p14="http://schemas.microsoft.com/office/powerpoint/2010/main" val="1184909021"/>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Slide Background">
            <a:extLst>
              <a:ext uri="{FF2B5EF4-FFF2-40B4-BE49-F238E27FC236}">
                <a16:creationId xmlns:a16="http://schemas.microsoft.com/office/drawing/2014/main" id="{649C91A9-84E7-4BF0-9026-62F01380D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p:cNvSpPr>
            <a:spLocks noGrp="1"/>
          </p:cNvSpPr>
          <p:nvPr>
            <p:ph type="title"/>
          </p:nvPr>
        </p:nvSpPr>
        <p:spPr>
          <a:xfrm>
            <a:off x="571351" y="762001"/>
            <a:ext cx="3060272" cy="1708242"/>
          </a:xfrm>
        </p:spPr>
        <p:txBody>
          <a:bodyPr anchor="ctr">
            <a:normAutofit/>
          </a:bodyPr>
          <a:lstStyle/>
          <a:p>
            <a:r>
              <a:rPr lang="en-US" sz="3500"/>
              <a:t>Data Distribution — Demographics</a:t>
            </a:r>
          </a:p>
        </p:txBody>
      </p:sp>
      <p:sp>
        <p:nvSpPr>
          <p:cNvPr id="3" name="Content Placeholder 2"/>
          <p:cNvSpPr>
            <a:spLocks noGrp="1"/>
          </p:cNvSpPr>
          <p:nvPr>
            <p:ph idx="1"/>
          </p:nvPr>
        </p:nvSpPr>
        <p:spPr>
          <a:xfrm>
            <a:off x="571352" y="2470244"/>
            <a:ext cx="3060271" cy="3769834"/>
          </a:xfrm>
        </p:spPr>
        <p:txBody>
          <a:bodyPr anchor="ctr">
            <a:normAutofit/>
          </a:bodyPr>
          <a:lstStyle/>
          <a:p>
            <a:endParaRPr lang="en-US" sz="1700" dirty="0"/>
          </a:p>
          <a:p>
            <a:pPr>
              <a:defRPr sz="1400"/>
            </a:pPr>
            <a:r>
              <a:rPr lang="en-US" sz="1700" dirty="0"/>
              <a:t>Northwestern students: 9.9% of reviewers.</a:t>
            </a:r>
          </a:p>
          <a:p>
            <a:pPr>
              <a:defRPr sz="1400"/>
            </a:pPr>
            <a:r>
              <a:rPr lang="en-US" sz="1700" dirty="0"/>
              <a:t>Has children?: 59% no, 38% yes.</a:t>
            </a:r>
          </a:p>
          <a:p>
            <a:pPr>
              <a:defRPr sz="1400"/>
            </a:pPr>
            <a:r>
              <a:rPr lang="en-US" sz="1700" dirty="0"/>
              <a:t>Transport: 63.8% car, 27% foot, 8.9% transit.</a:t>
            </a:r>
          </a:p>
          <a:p>
            <a:pPr>
              <a:defRPr sz="1400"/>
            </a:pPr>
            <a:r>
              <a:rPr lang="en-US" sz="1700" dirty="0"/>
              <a:t>Birth years span 1960s‑1990s, peak ~2000.</a:t>
            </a:r>
          </a:p>
        </p:txBody>
      </p:sp>
      <p:sp>
        <p:nvSpPr>
          <p:cNvPr id="49" name="Rectangle 48">
            <a:extLst>
              <a:ext uri="{FF2B5EF4-FFF2-40B4-BE49-F238E27FC236}">
                <a16:creationId xmlns:a16="http://schemas.microsoft.com/office/drawing/2014/main" id="{9B47378D-AD27-45D0-8C1C-5B1098DCC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7650" y="0"/>
            <a:ext cx="5086349" cy="6858000"/>
          </a:xfrm>
          <a:prstGeom prst="rect">
            <a:avLst/>
          </a:prstGeom>
          <a:solidFill>
            <a:srgbClr val="FFFFFF"/>
          </a:solidFill>
          <a:ln>
            <a:noFill/>
          </a:ln>
          <a:effectLst>
            <a:outerShdw blurRad="177800" dist="215900" dir="8520000" sx="94000" sy="94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41">
            <a:extLst>
              <a:ext uri="{FF2B5EF4-FFF2-40B4-BE49-F238E27FC236}">
                <a16:creationId xmlns:a16="http://schemas.microsoft.com/office/drawing/2014/main" id="{352551C6-0966-F3B7-BC27-313AE25656A3}"/>
              </a:ext>
            </a:extLst>
          </p:cNvPr>
          <p:cNvPicPr>
            <a:picLocks noChangeAspect="1"/>
          </p:cNvPicPr>
          <p:nvPr/>
        </p:nvPicPr>
        <p:blipFill>
          <a:blip r:embed="rId3"/>
          <a:stretch>
            <a:fillRect/>
          </a:stretch>
        </p:blipFill>
        <p:spPr>
          <a:xfrm>
            <a:off x="4105890" y="1376917"/>
            <a:ext cx="4989867" cy="410416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649C91A9-84E7-4BF0-9026-62F01380D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p:cNvSpPr>
            <a:spLocks noGrp="1"/>
          </p:cNvSpPr>
          <p:nvPr>
            <p:ph type="title"/>
          </p:nvPr>
        </p:nvSpPr>
        <p:spPr>
          <a:xfrm>
            <a:off x="571351" y="762001"/>
            <a:ext cx="3060272" cy="1708242"/>
          </a:xfrm>
        </p:spPr>
        <p:txBody>
          <a:bodyPr anchor="ctr">
            <a:normAutofit/>
          </a:bodyPr>
          <a:lstStyle/>
          <a:p>
            <a:r>
              <a:rPr lang="en-US" sz="3500"/>
              <a:t>Cuisine Distribution</a:t>
            </a:r>
          </a:p>
        </p:txBody>
      </p:sp>
      <p:sp>
        <p:nvSpPr>
          <p:cNvPr id="3" name="Content Placeholder 2"/>
          <p:cNvSpPr>
            <a:spLocks noGrp="1"/>
          </p:cNvSpPr>
          <p:nvPr>
            <p:ph idx="1"/>
          </p:nvPr>
        </p:nvSpPr>
        <p:spPr>
          <a:xfrm>
            <a:off x="571352" y="2470244"/>
            <a:ext cx="3060271" cy="3769834"/>
          </a:xfrm>
        </p:spPr>
        <p:txBody>
          <a:bodyPr anchor="ctr">
            <a:normAutofit/>
          </a:bodyPr>
          <a:lstStyle/>
          <a:p>
            <a:endParaRPr lang="en-US" sz="1700" dirty="0"/>
          </a:p>
          <a:p>
            <a:pPr>
              <a:defRPr sz="1400"/>
            </a:pPr>
            <a:r>
              <a:rPr lang="en-US" sz="1700" dirty="0"/>
              <a:t>Top cuisines: American 11.8%, Mexican 10.3%, Japanese 8.8%, South Asian 7.2%, Burgers 6.9%.</a:t>
            </a:r>
          </a:p>
          <a:p>
            <a:pPr>
              <a:defRPr sz="1400"/>
            </a:pPr>
            <a:r>
              <a:rPr lang="en-US" sz="1700" dirty="0"/>
              <a:t>Uneven representation influences recommendation reliability.</a:t>
            </a:r>
          </a:p>
        </p:txBody>
      </p:sp>
      <p:sp>
        <p:nvSpPr>
          <p:cNvPr id="11" name="Rectangle 10">
            <a:extLst>
              <a:ext uri="{FF2B5EF4-FFF2-40B4-BE49-F238E27FC236}">
                <a16:creationId xmlns:a16="http://schemas.microsoft.com/office/drawing/2014/main" id="{9B47378D-AD27-45D0-8C1C-5B1098DCC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7650" y="0"/>
            <a:ext cx="5086349" cy="6858000"/>
          </a:xfrm>
          <a:prstGeom prst="rect">
            <a:avLst/>
          </a:prstGeom>
          <a:solidFill>
            <a:srgbClr val="FFFFFF"/>
          </a:solidFill>
          <a:ln>
            <a:noFill/>
          </a:ln>
          <a:effectLst>
            <a:outerShdw blurRad="177800" dist="215900" dir="8520000" sx="94000" sy="94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3AC650A-C96A-8768-5DF2-24A89948B8EB}"/>
              </a:ext>
            </a:extLst>
          </p:cNvPr>
          <p:cNvPicPr>
            <a:picLocks noChangeAspect="1"/>
          </p:cNvPicPr>
          <p:nvPr/>
        </p:nvPicPr>
        <p:blipFill>
          <a:blip r:embed="rId3"/>
          <a:stretch>
            <a:fillRect/>
          </a:stretch>
        </p:blipFill>
        <p:spPr>
          <a:xfrm>
            <a:off x="4105890" y="1376917"/>
            <a:ext cx="4989867" cy="410416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649C91A9-84E7-4BF0-9026-62F01380D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p:cNvSpPr>
            <a:spLocks noGrp="1"/>
          </p:cNvSpPr>
          <p:nvPr>
            <p:ph type="title"/>
          </p:nvPr>
        </p:nvSpPr>
        <p:spPr>
          <a:xfrm>
            <a:off x="571351" y="762001"/>
            <a:ext cx="3060272" cy="1708242"/>
          </a:xfrm>
        </p:spPr>
        <p:txBody>
          <a:bodyPr anchor="ctr">
            <a:normAutofit/>
          </a:bodyPr>
          <a:lstStyle/>
          <a:p>
            <a:r>
              <a:rPr lang="en-US" sz="3500"/>
              <a:t>Data Distribution — Ratings</a:t>
            </a:r>
          </a:p>
        </p:txBody>
      </p:sp>
      <p:sp>
        <p:nvSpPr>
          <p:cNvPr id="3" name="Content Placeholder 2"/>
          <p:cNvSpPr>
            <a:spLocks noGrp="1"/>
          </p:cNvSpPr>
          <p:nvPr>
            <p:ph idx="1"/>
          </p:nvPr>
        </p:nvSpPr>
        <p:spPr>
          <a:xfrm>
            <a:off x="571352" y="2470244"/>
            <a:ext cx="3060271" cy="3769834"/>
          </a:xfrm>
        </p:spPr>
        <p:txBody>
          <a:bodyPr anchor="ctr">
            <a:normAutofit/>
          </a:bodyPr>
          <a:lstStyle/>
          <a:p>
            <a:endParaRPr lang="en-US" sz="1700" dirty="0"/>
          </a:p>
          <a:p>
            <a:pPr>
              <a:defRPr sz="1400"/>
            </a:pPr>
            <a:r>
              <a:rPr lang="en-US" sz="1700" dirty="0"/>
              <a:t>46.9% five‑star ratings ⇒ positivity bias.</a:t>
            </a:r>
          </a:p>
          <a:p>
            <a:pPr>
              <a:defRPr sz="1400"/>
            </a:pPr>
            <a:r>
              <a:rPr lang="en-US" sz="1700" dirty="0"/>
              <a:t>Extreme scores (5 &amp; 1) dominate.</a:t>
            </a:r>
          </a:p>
          <a:p>
            <a:pPr>
              <a:defRPr sz="1400"/>
            </a:pPr>
            <a:r>
              <a:rPr lang="en-US" sz="1700" dirty="0"/>
              <a:t>Younger reviewers rate higher; widows rate lower.</a:t>
            </a:r>
          </a:p>
        </p:txBody>
      </p:sp>
      <p:sp>
        <p:nvSpPr>
          <p:cNvPr id="11" name="Rectangle 10">
            <a:extLst>
              <a:ext uri="{FF2B5EF4-FFF2-40B4-BE49-F238E27FC236}">
                <a16:creationId xmlns:a16="http://schemas.microsoft.com/office/drawing/2014/main" id="{9B47378D-AD27-45D0-8C1C-5B1098DCC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7650" y="0"/>
            <a:ext cx="5086349" cy="6858000"/>
          </a:xfrm>
          <a:prstGeom prst="rect">
            <a:avLst/>
          </a:prstGeom>
          <a:solidFill>
            <a:srgbClr val="FFFFFF"/>
          </a:solidFill>
          <a:ln>
            <a:noFill/>
          </a:ln>
          <a:effectLst>
            <a:outerShdw blurRad="177800" dist="215900" dir="8520000" sx="94000" sy="94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8099AC5A-B427-C467-E5B0-30E6549637B9}"/>
              </a:ext>
            </a:extLst>
          </p:cNvPr>
          <p:cNvPicPr>
            <a:picLocks noChangeAspect="1"/>
          </p:cNvPicPr>
          <p:nvPr/>
        </p:nvPicPr>
        <p:blipFill>
          <a:blip r:embed="rId3"/>
          <a:stretch>
            <a:fillRect/>
          </a:stretch>
        </p:blipFill>
        <p:spPr>
          <a:xfrm>
            <a:off x="4057649" y="0"/>
            <a:ext cx="4978002"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5CC8-3B11-B5B6-D330-E84D9837268E}"/>
              </a:ext>
            </a:extLst>
          </p:cNvPr>
          <p:cNvSpPr>
            <a:spLocks noGrp="1"/>
          </p:cNvSpPr>
          <p:nvPr>
            <p:ph type="title"/>
          </p:nvPr>
        </p:nvSpPr>
        <p:spPr>
          <a:xfrm>
            <a:off x="457200" y="2518107"/>
            <a:ext cx="8229600" cy="1143000"/>
          </a:xfrm>
        </p:spPr>
        <p:txBody>
          <a:bodyPr/>
          <a:lstStyle/>
          <a:p>
            <a:r>
              <a:rPr kumimoji="1" lang="en-US" altLang="zh-CN" dirty="0"/>
              <a:t>Clustering</a:t>
            </a:r>
            <a:endParaRPr kumimoji="1" lang="zh-CN" altLang="en-US" dirty="0"/>
          </a:p>
        </p:txBody>
      </p:sp>
    </p:spTree>
    <p:extLst>
      <p:ext uri="{BB962C8B-B14F-4D97-AF65-F5344CB8AC3E}">
        <p14:creationId xmlns:p14="http://schemas.microsoft.com/office/powerpoint/2010/main" val="1416356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26FF42C2-EA15-4154-B242-E98E88CED9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ectangle 29">
            <a:extLst>
              <a:ext uri="{FF2B5EF4-FFF2-40B4-BE49-F238E27FC236}">
                <a16:creationId xmlns:a16="http://schemas.microsoft.com/office/drawing/2014/main" id="{D79DE9F7-28C4-4856-BA57-D696E124C1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181" y="633619"/>
            <a:ext cx="3695560"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28649" y="978408"/>
            <a:ext cx="3042397" cy="1106424"/>
          </a:xfrm>
        </p:spPr>
        <p:txBody>
          <a:bodyPr>
            <a:normAutofit/>
          </a:bodyPr>
          <a:lstStyle/>
          <a:p>
            <a:pPr>
              <a:lnSpc>
                <a:spcPct val="90000"/>
              </a:lnSpc>
            </a:pPr>
            <a:r>
              <a:rPr lang="en-US" sz="2400"/>
              <a:t>User Segmentation — Clustering Methodology</a:t>
            </a:r>
          </a:p>
        </p:txBody>
      </p:sp>
      <p:sp>
        <p:nvSpPr>
          <p:cNvPr id="32" name="Rectangle 31">
            <a:extLst>
              <a:ext uri="{FF2B5EF4-FFF2-40B4-BE49-F238E27FC236}">
                <a16:creationId xmlns:a16="http://schemas.microsoft.com/office/drawing/2014/main" id="{E1F9ED9C-121B-44C6-A308-5824769C40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9175" y="117043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4A5F8185-F27B-4E99-A06C-007336FE3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8094" y="2121408"/>
            <a:ext cx="2968987"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628649" y="2359152"/>
            <a:ext cx="3042397" cy="3429000"/>
          </a:xfrm>
        </p:spPr>
        <p:txBody>
          <a:bodyPr>
            <a:normAutofit/>
          </a:bodyPr>
          <a:lstStyle/>
          <a:p>
            <a:endParaRPr lang="en-US" sz="1600" dirty="0"/>
          </a:p>
          <a:p>
            <a:pPr>
              <a:defRPr sz="1400"/>
            </a:pPr>
            <a:r>
              <a:rPr lang="en-US" sz="1600" dirty="0"/>
              <a:t>One‑hot encode categorical variables.</a:t>
            </a:r>
          </a:p>
          <a:p>
            <a:pPr>
              <a:defRPr sz="1400"/>
            </a:pPr>
            <a:r>
              <a:rPr lang="en-US" sz="1600" dirty="0"/>
              <a:t>Standardize numeric features.</a:t>
            </a:r>
          </a:p>
          <a:p>
            <a:pPr>
              <a:defRPr sz="1400"/>
            </a:pPr>
            <a:r>
              <a:rPr lang="en-US" sz="1600" dirty="0"/>
              <a:t>K‑Means (k=4) selected via elbow method (silhouette 0.15).</a:t>
            </a:r>
          </a:p>
          <a:p>
            <a:pPr>
              <a:defRPr sz="1400"/>
            </a:pPr>
            <a:r>
              <a:rPr lang="en-US" sz="1600" dirty="0"/>
              <a:t>Validated with Agglomerative Method.</a:t>
            </a:r>
          </a:p>
        </p:txBody>
      </p:sp>
      <p:pic>
        <p:nvPicPr>
          <p:cNvPr id="6" name="Picture 5">
            <a:extLst>
              <a:ext uri="{FF2B5EF4-FFF2-40B4-BE49-F238E27FC236}">
                <a16:creationId xmlns:a16="http://schemas.microsoft.com/office/drawing/2014/main" id="{08C2B29E-9AAC-C336-CF19-7AD892E7C7A8}"/>
              </a:ext>
            </a:extLst>
          </p:cNvPr>
          <p:cNvPicPr>
            <a:picLocks noChangeAspect="1"/>
          </p:cNvPicPr>
          <p:nvPr/>
        </p:nvPicPr>
        <p:blipFill>
          <a:blip r:embed="rId3"/>
          <a:stretch>
            <a:fillRect/>
          </a:stretch>
        </p:blipFill>
        <p:spPr>
          <a:xfrm>
            <a:off x="4385028" y="938942"/>
            <a:ext cx="2155251" cy="1594885"/>
          </a:xfrm>
          <a:prstGeom prst="rect">
            <a:avLst/>
          </a:prstGeom>
        </p:spPr>
      </p:pic>
      <p:pic>
        <p:nvPicPr>
          <p:cNvPr id="5" name="Picture 4">
            <a:extLst>
              <a:ext uri="{FF2B5EF4-FFF2-40B4-BE49-F238E27FC236}">
                <a16:creationId xmlns:a16="http://schemas.microsoft.com/office/drawing/2014/main" id="{875475E3-16C7-2CAA-A791-B2C88C18B417}"/>
              </a:ext>
            </a:extLst>
          </p:cNvPr>
          <p:cNvPicPr>
            <a:picLocks noChangeAspect="1"/>
          </p:cNvPicPr>
          <p:nvPr/>
        </p:nvPicPr>
        <p:blipFill>
          <a:blip r:embed="rId4"/>
          <a:stretch>
            <a:fillRect/>
          </a:stretch>
        </p:blipFill>
        <p:spPr>
          <a:xfrm>
            <a:off x="6721773" y="936983"/>
            <a:ext cx="2155251" cy="1594885"/>
          </a:xfrm>
          <a:prstGeom prst="rect">
            <a:avLst/>
          </a:prstGeom>
        </p:spPr>
      </p:pic>
      <p:pic>
        <p:nvPicPr>
          <p:cNvPr id="4" name="Picture 3">
            <a:extLst>
              <a:ext uri="{FF2B5EF4-FFF2-40B4-BE49-F238E27FC236}">
                <a16:creationId xmlns:a16="http://schemas.microsoft.com/office/drawing/2014/main" id="{E4DE50B3-683E-FCDE-6E38-C8900AF061A8}"/>
              </a:ext>
            </a:extLst>
          </p:cNvPr>
          <p:cNvPicPr>
            <a:picLocks noChangeAspect="1"/>
          </p:cNvPicPr>
          <p:nvPr/>
        </p:nvPicPr>
        <p:blipFill>
          <a:blip r:embed="rId5"/>
          <a:stretch>
            <a:fillRect/>
          </a:stretch>
        </p:blipFill>
        <p:spPr>
          <a:xfrm>
            <a:off x="4385028" y="3301726"/>
            <a:ext cx="4491996" cy="267273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User Clusters &amp; Rating Behavior</a:t>
            </a:r>
          </a:p>
        </p:txBody>
      </p:sp>
      <p:sp>
        <p:nvSpPr>
          <p:cNvPr id="3" name="Content Placeholder 2"/>
          <p:cNvSpPr>
            <a:spLocks noGrp="1"/>
          </p:cNvSpPr>
          <p:nvPr>
            <p:ph idx="1"/>
          </p:nvPr>
        </p:nvSpPr>
        <p:spPr/>
        <p:txBody>
          <a:bodyPr/>
          <a:lstStyle/>
          <a:p>
            <a:endParaRPr/>
          </a:p>
          <a:p>
            <a:pPr>
              <a:defRPr sz="1400"/>
            </a:pPr>
            <a:r>
              <a:t>Cluster 0: 3.88 avg rating, 20% NU students, young no‑kids.</a:t>
            </a:r>
          </a:p>
          <a:p>
            <a:pPr>
              <a:defRPr sz="1400"/>
            </a:pPr>
            <a:r>
              <a:t>Cluster 1: 3.64 avg rating, older w/ kids (60%).</a:t>
            </a:r>
          </a:p>
          <a:p>
            <a:pPr>
              <a:defRPr sz="1400"/>
            </a:pPr>
            <a:r>
              <a:t>Cluster 2: 3.56 avg rating, oldest w/ kids (73%).</a:t>
            </a:r>
          </a:p>
          <a:p>
            <a:pPr>
              <a:defRPr sz="1400"/>
            </a:pPr>
            <a:r>
              <a:t>Cluster 3: 3.91 avg rating, young NU students, 9% kids.</a:t>
            </a:r>
          </a:p>
        </p:txBody>
      </p:sp>
      <p:pic>
        <p:nvPicPr>
          <p:cNvPr id="4" name="Picture 3">
            <a:extLst>
              <a:ext uri="{FF2B5EF4-FFF2-40B4-BE49-F238E27FC236}">
                <a16:creationId xmlns:a16="http://schemas.microsoft.com/office/drawing/2014/main" id="{1A0F9A29-179A-CE97-C5F2-2CEAD4BDF6F6}"/>
              </a:ext>
            </a:extLst>
          </p:cNvPr>
          <p:cNvPicPr>
            <a:picLocks noChangeAspect="1"/>
          </p:cNvPicPr>
          <p:nvPr/>
        </p:nvPicPr>
        <p:blipFill>
          <a:blip r:embed="rId3"/>
          <a:stretch>
            <a:fillRect/>
          </a:stretch>
        </p:blipFill>
        <p:spPr>
          <a:xfrm>
            <a:off x="1144625" y="3542267"/>
            <a:ext cx="6642100" cy="20701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A51A0227-072A-4F5F-928C-E2C3E5CCD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202" y="4440365"/>
            <a:ext cx="3184398" cy="1722691"/>
          </a:xfrm>
        </p:spPr>
        <p:txBody>
          <a:bodyPr anchor="ctr">
            <a:normAutofit/>
          </a:bodyPr>
          <a:lstStyle/>
          <a:p>
            <a:pPr>
              <a:lnSpc>
                <a:spcPct val="90000"/>
              </a:lnSpc>
            </a:pPr>
            <a:r>
              <a:rPr lang="en-US" sz="3600" dirty="0"/>
              <a:t>Validating Clusters — Agglomerative</a:t>
            </a:r>
          </a:p>
        </p:txBody>
      </p:sp>
      <p:pic>
        <p:nvPicPr>
          <p:cNvPr id="5" name="Picture 4">
            <a:extLst>
              <a:ext uri="{FF2B5EF4-FFF2-40B4-BE49-F238E27FC236}">
                <a16:creationId xmlns:a16="http://schemas.microsoft.com/office/drawing/2014/main" id="{F7BE9DCB-10EE-A107-4572-A7E85D1AB5DF}"/>
              </a:ext>
            </a:extLst>
          </p:cNvPr>
          <p:cNvPicPr>
            <a:picLocks noChangeAspect="1"/>
          </p:cNvPicPr>
          <p:nvPr/>
        </p:nvPicPr>
        <p:blipFill>
          <a:blip r:embed="rId3"/>
          <a:stretch>
            <a:fillRect/>
          </a:stretch>
        </p:blipFill>
        <p:spPr>
          <a:xfrm>
            <a:off x="347472" y="919184"/>
            <a:ext cx="4103370" cy="2728743"/>
          </a:xfrm>
          <a:prstGeom prst="rect">
            <a:avLst/>
          </a:prstGeom>
        </p:spPr>
      </p:pic>
      <p:pic>
        <p:nvPicPr>
          <p:cNvPr id="7" name="Picture 6">
            <a:extLst>
              <a:ext uri="{FF2B5EF4-FFF2-40B4-BE49-F238E27FC236}">
                <a16:creationId xmlns:a16="http://schemas.microsoft.com/office/drawing/2014/main" id="{3E5004D8-6AED-86E4-CAA7-5B5A1003B490}"/>
              </a:ext>
            </a:extLst>
          </p:cNvPr>
          <p:cNvPicPr>
            <a:picLocks noChangeAspect="1"/>
          </p:cNvPicPr>
          <p:nvPr/>
        </p:nvPicPr>
        <p:blipFill>
          <a:blip r:embed="rId4"/>
          <a:stretch>
            <a:fillRect/>
          </a:stretch>
        </p:blipFill>
        <p:spPr>
          <a:xfrm>
            <a:off x="4690872" y="997590"/>
            <a:ext cx="4103370" cy="1518246"/>
          </a:xfrm>
          <a:prstGeom prst="rect">
            <a:avLst/>
          </a:prstGeom>
        </p:spPr>
      </p:pic>
      <p:sp>
        <p:nvSpPr>
          <p:cNvPr id="33" name="sketchy line">
            <a:extLst>
              <a:ext uri="{FF2B5EF4-FFF2-40B4-BE49-F238E27FC236}">
                <a16:creationId xmlns:a16="http://schemas.microsoft.com/office/drawing/2014/main" id="{35D99776-4B38-47DF-A302-11AD9AF87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058668" y="5294852"/>
            <a:ext cx="1554480" cy="13716"/>
          </a:xfrm>
          <a:custGeom>
            <a:avLst/>
            <a:gdLst>
              <a:gd name="connsiteX0" fmla="*/ 0 w 1554480"/>
              <a:gd name="connsiteY0" fmla="*/ 0 h 13716"/>
              <a:gd name="connsiteX1" fmla="*/ 549250 w 1554480"/>
              <a:gd name="connsiteY1" fmla="*/ 0 h 13716"/>
              <a:gd name="connsiteX2" fmla="*/ 1082954 w 1554480"/>
              <a:gd name="connsiteY2" fmla="*/ 0 h 13716"/>
              <a:gd name="connsiteX3" fmla="*/ 1554480 w 1554480"/>
              <a:gd name="connsiteY3" fmla="*/ 0 h 13716"/>
              <a:gd name="connsiteX4" fmla="*/ 1554480 w 1554480"/>
              <a:gd name="connsiteY4" fmla="*/ 13716 h 13716"/>
              <a:gd name="connsiteX5" fmla="*/ 1067410 w 1554480"/>
              <a:gd name="connsiteY5" fmla="*/ 13716 h 13716"/>
              <a:gd name="connsiteX6" fmla="*/ 549250 w 1554480"/>
              <a:gd name="connsiteY6" fmla="*/ 13716 h 13716"/>
              <a:gd name="connsiteX7" fmla="*/ 0 w 1554480"/>
              <a:gd name="connsiteY7" fmla="*/ 13716 h 13716"/>
              <a:gd name="connsiteX8" fmla="*/ 0 w 1554480"/>
              <a:gd name="connsiteY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3716"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3820" y="4959"/>
                  <a:pt x="1554594" y="10798"/>
                  <a:pt x="1554480" y="13716"/>
                </a:cubicBezTo>
                <a:cubicBezTo>
                  <a:pt x="1338847" y="1555"/>
                  <a:pt x="1215066" y="33279"/>
                  <a:pt x="1067410" y="13716"/>
                </a:cubicBezTo>
                <a:cubicBezTo>
                  <a:pt x="919754" y="-5847"/>
                  <a:pt x="800465" y="-1492"/>
                  <a:pt x="549250" y="13716"/>
                </a:cubicBezTo>
                <a:cubicBezTo>
                  <a:pt x="298035" y="28924"/>
                  <a:pt x="158868" y="18197"/>
                  <a:pt x="0" y="13716"/>
                </a:cubicBezTo>
                <a:cubicBezTo>
                  <a:pt x="488" y="8630"/>
                  <a:pt x="480" y="6612"/>
                  <a:pt x="0" y="0"/>
                </a:cubicBezTo>
                <a:close/>
              </a:path>
              <a:path w="1554480" h="13716"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232" y="4157"/>
                  <a:pt x="1554673" y="7559"/>
                  <a:pt x="1554480" y="13716"/>
                </a:cubicBezTo>
                <a:cubicBezTo>
                  <a:pt x="1336087" y="7600"/>
                  <a:pt x="1310024" y="15187"/>
                  <a:pt x="1067410" y="13716"/>
                </a:cubicBezTo>
                <a:cubicBezTo>
                  <a:pt x="824796" y="12246"/>
                  <a:pt x="787902" y="30075"/>
                  <a:pt x="518160" y="13716"/>
                </a:cubicBezTo>
                <a:cubicBezTo>
                  <a:pt x="248418" y="-2643"/>
                  <a:pt x="133160" y="4633"/>
                  <a:pt x="0" y="13716"/>
                </a:cubicBezTo>
                <a:cubicBezTo>
                  <a:pt x="43" y="9160"/>
                  <a:pt x="-111" y="481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000499" y="4440365"/>
            <a:ext cx="4661153" cy="1722691"/>
          </a:xfrm>
        </p:spPr>
        <p:txBody>
          <a:bodyPr anchor="ctr">
            <a:normAutofit/>
          </a:bodyPr>
          <a:lstStyle/>
          <a:p>
            <a:endParaRPr lang="en-US" sz="1900" dirty="0"/>
          </a:p>
          <a:p>
            <a:pPr>
              <a:defRPr sz="1400"/>
            </a:pPr>
            <a:r>
              <a:rPr lang="en-US" sz="1900" dirty="0"/>
              <a:t>Hierarchical clustering produced similar 4‑segment split.</a:t>
            </a:r>
          </a:p>
          <a:p>
            <a:pPr>
              <a:defRPr sz="1400"/>
            </a:pPr>
            <a:r>
              <a:rPr lang="en-US" sz="1900" dirty="0"/>
              <a:t>Confirms young‑student vs older‑family dichotomy.</a:t>
            </a:r>
          </a:p>
        </p:txBody>
      </p:sp>
      <p:pic>
        <p:nvPicPr>
          <p:cNvPr id="8" name="Picture 7">
            <a:extLst>
              <a:ext uri="{FF2B5EF4-FFF2-40B4-BE49-F238E27FC236}">
                <a16:creationId xmlns:a16="http://schemas.microsoft.com/office/drawing/2014/main" id="{68B54885-D4EF-B313-5567-C20BBB00DAAE}"/>
              </a:ext>
            </a:extLst>
          </p:cNvPr>
          <p:cNvPicPr>
            <a:picLocks noChangeAspect="1"/>
          </p:cNvPicPr>
          <p:nvPr/>
        </p:nvPicPr>
        <p:blipFill>
          <a:blip r:embed="rId5"/>
          <a:stretch>
            <a:fillRect/>
          </a:stretch>
        </p:blipFill>
        <p:spPr>
          <a:xfrm>
            <a:off x="4798314" y="3069176"/>
            <a:ext cx="3671393" cy="946090"/>
          </a:xfrm>
          <a:prstGeom prst="rect">
            <a:avLst/>
          </a:prstGeom>
        </p:spPr>
      </p:pic>
      <p:pic>
        <p:nvPicPr>
          <p:cNvPr id="9" name="Picture 8">
            <a:extLst>
              <a:ext uri="{FF2B5EF4-FFF2-40B4-BE49-F238E27FC236}">
                <a16:creationId xmlns:a16="http://schemas.microsoft.com/office/drawing/2014/main" id="{4F01BAE9-BD08-7944-4768-96318CADF388}"/>
              </a:ext>
            </a:extLst>
          </p:cNvPr>
          <p:cNvPicPr>
            <a:picLocks noChangeAspect="1"/>
          </p:cNvPicPr>
          <p:nvPr/>
        </p:nvPicPr>
        <p:blipFill>
          <a:blip r:embed="rId6"/>
          <a:stretch>
            <a:fillRect/>
          </a:stretch>
        </p:blipFill>
        <p:spPr>
          <a:xfrm>
            <a:off x="4845700" y="4003201"/>
            <a:ext cx="3585037" cy="22362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1554"/>
            <a:ext cx="8229600" cy="1143000"/>
          </a:xfrm>
        </p:spPr>
        <p:txBody>
          <a:bodyPr>
            <a:normAutofit fontScale="90000"/>
          </a:bodyPr>
          <a:lstStyle/>
          <a:p>
            <a:r>
              <a:rPr dirty="0"/>
              <a:t>CONTENT‑BASED FILTERING APPROACH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Content‑Based Filtering Methodology</a:t>
            </a:r>
          </a:p>
        </p:txBody>
      </p:sp>
      <p:sp>
        <p:nvSpPr>
          <p:cNvPr id="3" name="Content Placeholder 2"/>
          <p:cNvSpPr>
            <a:spLocks noGrp="1"/>
          </p:cNvSpPr>
          <p:nvPr>
            <p:ph idx="1"/>
          </p:nvPr>
        </p:nvSpPr>
        <p:spPr>
          <a:xfrm>
            <a:off x="457200" y="855242"/>
            <a:ext cx="8229600" cy="4525963"/>
          </a:xfrm>
        </p:spPr>
        <p:txBody>
          <a:bodyPr/>
          <a:lstStyle/>
          <a:p>
            <a:endParaRPr lang="en-US" dirty="0"/>
          </a:p>
          <a:p>
            <a:pPr>
              <a:defRPr sz="1400"/>
            </a:pPr>
            <a:r>
              <a:rPr lang="en-US" dirty="0"/>
              <a:t>Encode categories, scale </a:t>
            </a:r>
            <a:r>
              <a:rPr lang="en-US" dirty="0" err="1"/>
              <a:t>numerics</a:t>
            </a:r>
            <a:r>
              <a:rPr lang="en-US" dirty="0"/>
              <a:t>, build unified feature space.</a:t>
            </a:r>
          </a:p>
          <a:p>
            <a:pPr>
              <a:defRPr sz="1400"/>
            </a:pPr>
            <a:r>
              <a:rPr lang="en-US" dirty="0"/>
              <a:t>Compute pairwise Euclidean &amp; cosine distances.</a:t>
            </a:r>
          </a:p>
          <a:p>
            <a:pPr>
              <a:defRPr sz="1400"/>
            </a:pPr>
            <a:r>
              <a:rPr lang="en-US" dirty="0"/>
              <a:t>Recommend closest restaurants to user favorite.</a:t>
            </a:r>
          </a:p>
        </p:txBody>
      </p:sp>
      <p:sp>
        <p:nvSpPr>
          <p:cNvPr id="4" name="Content Placeholder 2">
            <a:extLst>
              <a:ext uri="{FF2B5EF4-FFF2-40B4-BE49-F238E27FC236}">
                <a16:creationId xmlns:a16="http://schemas.microsoft.com/office/drawing/2014/main" id="{C7953432-A7C9-98C1-737D-1AF565F8AC81}"/>
              </a:ext>
            </a:extLst>
          </p:cNvPr>
          <p:cNvSpPr txBox="1">
            <a:spLocks/>
          </p:cNvSpPr>
          <p:nvPr/>
        </p:nvSpPr>
        <p:spPr>
          <a:xfrm>
            <a:off x="414811" y="2482808"/>
            <a:ext cx="8229600" cy="4193212"/>
          </a:xfrm>
          <a:prstGeom prst="rect">
            <a:avLst/>
          </a:prstGeom>
          <a:pattFill prst="pct5">
            <a:fgClr>
              <a:schemeClr val="accent1"/>
            </a:fgClr>
            <a:bgClr>
              <a:schemeClr val="bg1"/>
            </a:bgClr>
          </a:pattFill>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700" dirty="0"/>
              <a:t>Personalized Recommendations Example</a:t>
            </a:r>
          </a:p>
          <a:p>
            <a:pPr>
              <a:defRPr sz="1400"/>
            </a:pPr>
            <a:r>
              <a:rPr lang="en-US" sz="1400" dirty="0"/>
              <a:t>User: Willie Jacobsen — favorite: Jimmy Johns.</a:t>
            </a:r>
          </a:p>
          <a:p>
            <a:pPr>
              <a:defRPr sz="1400"/>
            </a:pPr>
            <a:r>
              <a:rPr lang="en-US" sz="1400" dirty="0"/>
              <a:t>Top 5 similar (Euclidean): Clarkes Off Campus, Hecky's BBQ, Evanston Chicken Shack, Prairie Moon, </a:t>
            </a:r>
            <a:r>
              <a:rPr lang="en-US" sz="1400" dirty="0" err="1"/>
              <a:t>Edzo's</a:t>
            </a:r>
            <a:r>
              <a:rPr lang="en-US" sz="1400" dirty="0"/>
              <a:t>.</a:t>
            </a:r>
          </a:p>
        </p:txBody>
      </p:sp>
      <p:pic>
        <p:nvPicPr>
          <p:cNvPr id="5" name="Picture 4">
            <a:extLst>
              <a:ext uri="{FF2B5EF4-FFF2-40B4-BE49-F238E27FC236}">
                <a16:creationId xmlns:a16="http://schemas.microsoft.com/office/drawing/2014/main" id="{AF868845-5942-E573-BA6D-12260FC3AB93}"/>
              </a:ext>
            </a:extLst>
          </p:cNvPr>
          <p:cNvPicPr>
            <a:picLocks noChangeAspect="1"/>
          </p:cNvPicPr>
          <p:nvPr/>
        </p:nvPicPr>
        <p:blipFill>
          <a:blip r:embed="rId3"/>
          <a:stretch>
            <a:fillRect/>
          </a:stretch>
        </p:blipFill>
        <p:spPr>
          <a:xfrm>
            <a:off x="1895411" y="3403924"/>
            <a:ext cx="4951991" cy="3179438"/>
          </a:xfrm>
          <a:prstGeom prst="rect">
            <a:avLst/>
          </a:prstGeom>
        </p:spPr>
      </p:pic>
      <p:pic>
        <p:nvPicPr>
          <p:cNvPr id="6" name="Picture 5">
            <a:extLst>
              <a:ext uri="{FF2B5EF4-FFF2-40B4-BE49-F238E27FC236}">
                <a16:creationId xmlns:a16="http://schemas.microsoft.com/office/drawing/2014/main" id="{5B7763F0-44E2-4CA3-59FA-C3F871A608EB}"/>
              </a:ext>
            </a:extLst>
          </p:cNvPr>
          <p:cNvPicPr>
            <a:picLocks noChangeAspect="1"/>
          </p:cNvPicPr>
          <p:nvPr/>
        </p:nvPicPr>
        <p:blipFill>
          <a:blip r:embed="rId4"/>
          <a:stretch>
            <a:fillRect/>
          </a:stretch>
        </p:blipFill>
        <p:spPr>
          <a:xfrm>
            <a:off x="5680180" y="1399151"/>
            <a:ext cx="3278955" cy="75090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3798" y="525982"/>
            <a:ext cx="3212237" cy="1200361"/>
          </a:xfrm>
        </p:spPr>
        <p:txBody>
          <a:bodyPr anchor="b">
            <a:normAutofit/>
          </a:bodyPr>
          <a:lstStyle/>
          <a:p>
            <a:pPr>
              <a:lnSpc>
                <a:spcPct val="90000"/>
              </a:lnSpc>
            </a:pPr>
            <a:r>
              <a:rPr lang="en-US" sz="2600" dirty="0"/>
              <a:t>Recommendation Evaluation — `Hit‑Accuracy`</a:t>
            </a:r>
          </a:p>
        </p:txBody>
      </p:sp>
      <p:sp>
        <p:nvSpPr>
          <p:cNvPr id="11" name="Rectangle 10">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2399" y="1944913"/>
            <a:ext cx="301752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83799" y="2031101"/>
            <a:ext cx="3212238" cy="3511943"/>
          </a:xfrm>
        </p:spPr>
        <p:txBody>
          <a:bodyPr anchor="ctr">
            <a:normAutofit/>
          </a:bodyPr>
          <a:lstStyle/>
          <a:p>
            <a:endParaRPr lang="en-US" sz="1600" dirty="0"/>
          </a:p>
          <a:p>
            <a:pPr>
              <a:defRPr sz="1400"/>
            </a:pPr>
            <a:r>
              <a:rPr lang="en-US" sz="1600" dirty="0"/>
              <a:t>Metric balances inclusion of liked &amp; exclusion of disliked restaurants.</a:t>
            </a:r>
          </a:p>
          <a:p>
            <a:pPr>
              <a:defRPr sz="1400"/>
            </a:pPr>
            <a:r>
              <a:rPr lang="en-US" sz="1600" dirty="0"/>
              <a:t>Formula combines hit ratio &amp; poorly‑rated check.</a:t>
            </a:r>
          </a:p>
          <a:p>
            <a:pPr>
              <a:defRPr sz="1400"/>
            </a:pPr>
            <a:endParaRPr lang="en-US" sz="1600" dirty="0"/>
          </a:p>
          <a:p>
            <a:pPr>
              <a:defRPr sz="1400"/>
            </a:pPr>
            <a:endParaRPr lang="en-US" sz="1600" dirty="0"/>
          </a:p>
          <a:p>
            <a:pPr>
              <a:defRPr sz="1400"/>
            </a:pPr>
            <a:r>
              <a:rPr lang="en-US" sz="1600" dirty="0"/>
              <a:t>Euclidean accuracy: 97.17%.</a:t>
            </a:r>
          </a:p>
          <a:p>
            <a:pPr>
              <a:defRPr sz="1400"/>
            </a:pPr>
            <a:r>
              <a:rPr lang="en-US" sz="1600" dirty="0"/>
              <a:t>Cosine accuracy: 96.95%.</a:t>
            </a:r>
          </a:p>
          <a:p>
            <a:pPr>
              <a:defRPr sz="1400"/>
            </a:pPr>
            <a:r>
              <a:rPr lang="en-US" sz="1600" dirty="0"/>
              <a:t>Euclidean edges out cosine similarity.</a:t>
            </a:r>
          </a:p>
          <a:p>
            <a:pPr marL="0" indent="0">
              <a:buNone/>
              <a:defRPr sz="1400"/>
            </a:pPr>
            <a:endParaRPr lang="en-US" sz="1600" dirty="0"/>
          </a:p>
        </p:txBody>
      </p:sp>
      <p:sp>
        <p:nvSpPr>
          <p:cNvPr id="13" name="Rectangle 12">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61965" y="6072626"/>
            <a:ext cx="740664" cy="11559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36109" y="1694387"/>
            <a:ext cx="740664" cy="887511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72594" y="354959"/>
            <a:ext cx="4638730"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921D08C-CC03-BC3E-A47A-7863D276906A}"/>
              </a:ext>
            </a:extLst>
          </p:cNvPr>
          <p:cNvPicPr>
            <a:picLocks noChangeAspect="1"/>
          </p:cNvPicPr>
          <p:nvPr/>
        </p:nvPicPr>
        <p:blipFill>
          <a:blip r:embed="rId3"/>
          <a:stretch>
            <a:fillRect/>
          </a:stretch>
        </p:blipFill>
        <p:spPr>
          <a:xfrm>
            <a:off x="4490803" y="1851039"/>
            <a:ext cx="4221014" cy="292305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endParaRPr dirty="0"/>
          </a:p>
          <a:p>
            <a:pPr>
              <a:defRPr sz="1400"/>
            </a:pPr>
            <a:r>
              <a:rPr dirty="0"/>
              <a:t>Questions?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A2BA5-39F5-5847-5B8D-1552691A1C47}"/>
              </a:ext>
            </a:extLst>
          </p:cNvPr>
          <p:cNvSpPr>
            <a:spLocks noGrp="1"/>
          </p:cNvSpPr>
          <p:nvPr>
            <p:ph type="title"/>
          </p:nvPr>
        </p:nvSpPr>
        <p:spPr/>
        <p:txBody>
          <a:bodyPr>
            <a:normAutofit fontScale="90000"/>
          </a:bodyPr>
          <a:lstStyle/>
          <a:p>
            <a:r>
              <a:rPr kumimoji="1" lang="en-US" altLang="zh-CN" dirty="0"/>
              <a:t>Appendix: Example of calculating Hit-Accuracy</a:t>
            </a:r>
            <a:endParaRPr kumimoji="1" lang="zh-CN" altLang="en-US" dirty="0"/>
          </a:p>
        </p:txBody>
      </p:sp>
      <p:pic>
        <p:nvPicPr>
          <p:cNvPr id="4" name="Picture 3">
            <a:extLst>
              <a:ext uri="{FF2B5EF4-FFF2-40B4-BE49-F238E27FC236}">
                <a16:creationId xmlns:a16="http://schemas.microsoft.com/office/drawing/2014/main" id="{1D64F110-C5E4-8918-38CE-C121834B1DE9}"/>
              </a:ext>
            </a:extLst>
          </p:cNvPr>
          <p:cNvPicPr>
            <a:picLocks noChangeAspect="1"/>
          </p:cNvPicPr>
          <p:nvPr/>
        </p:nvPicPr>
        <p:blipFill>
          <a:blip r:embed="rId3"/>
          <a:stretch>
            <a:fillRect/>
          </a:stretch>
        </p:blipFill>
        <p:spPr>
          <a:xfrm>
            <a:off x="262373" y="1956474"/>
            <a:ext cx="2679700" cy="355600"/>
          </a:xfrm>
          <a:prstGeom prst="rect">
            <a:avLst/>
          </a:prstGeom>
        </p:spPr>
      </p:pic>
      <p:pic>
        <p:nvPicPr>
          <p:cNvPr id="5" name="Picture 4">
            <a:extLst>
              <a:ext uri="{FF2B5EF4-FFF2-40B4-BE49-F238E27FC236}">
                <a16:creationId xmlns:a16="http://schemas.microsoft.com/office/drawing/2014/main" id="{F58133CD-7B57-E121-FE75-DDA2C9D268A5}"/>
              </a:ext>
            </a:extLst>
          </p:cNvPr>
          <p:cNvPicPr>
            <a:picLocks noChangeAspect="1"/>
          </p:cNvPicPr>
          <p:nvPr/>
        </p:nvPicPr>
        <p:blipFill>
          <a:blip r:embed="rId4"/>
          <a:stretch>
            <a:fillRect/>
          </a:stretch>
        </p:blipFill>
        <p:spPr>
          <a:xfrm>
            <a:off x="262373" y="2438569"/>
            <a:ext cx="3416300" cy="3162300"/>
          </a:xfrm>
          <a:prstGeom prst="rect">
            <a:avLst/>
          </a:prstGeom>
        </p:spPr>
      </p:pic>
      <p:pic>
        <p:nvPicPr>
          <p:cNvPr id="7" name="Picture 6">
            <a:extLst>
              <a:ext uri="{FF2B5EF4-FFF2-40B4-BE49-F238E27FC236}">
                <a16:creationId xmlns:a16="http://schemas.microsoft.com/office/drawing/2014/main" id="{D751EF82-C015-05C9-2CB8-99DF2207E344}"/>
              </a:ext>
            </a:extLst>
          </p:cNvPr>
          <p:cNvPicPr>
            <a:picLocks noChangeAspect="1"/>
          </p:cNvPicPr>
          <p:nvPr/>
        </p:nvPicPr>
        <p:blipFill>
          <a:blip r:embed="rId5"/>
          <a:stretch>
            <a:fillRect/>
          </a:stretch>
        </p:blipFill>
        <p:spPr>
          <a:xfrm>
            <a:off x="3824281" y="2049644"/>
            <a:ext cx="3282096" cy="3246930"/>
          </a:xfrm>
          <a:prstGeom prst="rect">
            <a:avLst/>
          </a:prstGeom>
        </p:spPr>
      </p:pic>
      <p:pic>
        <p:nvPicPr>
          <p:cNvPr id="8" name="Picture 7">
            <a:extLst>
              <a:ext uri="{FF2B5EF4-FFF2-40B4-BE49-F238E27FC236}">
                <a16:creationId xmlns:a16="http://schemas.microsoft.com/office/drawing/2014/main" id="{2B01D759-1314-A2CB-1171-99FF6C210BB7}"/>
              </a:ext>
            </a:extLst>
          </p:cNvPr>
          <p:cNvPicPr>
            <a:picLocks noChangeAspect="1"/>
          </p:cNvPicPr>
          <p:nvPr/>
        </p:nvPicPr>
        <p:blipFill>
          <a:blip r:embed="rId6"/>
          <a:stretch>
            <a:fillRect/>
          </a:stretch>
        </p:blipFill>
        <p:spPr>
          <a:xfrm>
            <a:off x="1886736" y="5600869"/>
            <a:ext cx="3583873" cy="1102041"/>
          </a:xfrm>
          <a:prstGeom prst="rect">
            <a:avLst/>
          </a:prstGeom>
        </p:spPr>
      </p:pic>
    </p:spTree>
    <p:extLst>
      <p:ext uri="{BB962C8B-B14F-4D97-AF65-F5344CB8AC3E}">
        <p14:creationId xmlns:p14="http://schemas.microsoft.com/office/powerpoint/2010/main" val="25021881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E001C-4CA6-1F87-DDB3-A42491EBD21C}"/>
              </a:ext>
            </a:extLst>
          </p:cNvPr>
          <p:cNvSpPr>
            <a:spLocks noGrp="1"/>
          </p:cNvSpPr>
          <p:nvPr>
            <p:ph type="title"/>
          </p:nvPr>
        </p:nvSpPr>
        <p:spPr>
          <a:xfrm>
            <a:off x="457200" y="2720181"/>
            <a:ext cx="8229600" cy="1143000"/>
          </a:xfrm>
        </p:spPr>
        <p:txBody>
          <a:bodyPr/>
          <a:lstStyle/>
          <a:p>
            <a:r>
              <a:rPr kumimoji="1" lang="en-US" altLang="zh-CN" dirty="0"/>
              <a:t>Bonus </a:t>
            </a:r>
            <a:r>
              <a:rPr kumimoji="1" lang="en-US" altLang="zh-CN" dirty="0" err="1"/>
              <a:t>SLides</a:t>
            </a:r>
            <a:endParaRPr kumimoji="1" lang="zh-CN" altLang="en-US" dirty="0"/>
          </a:p>
        </p:txBody>
      </p:sp>
    </p:spTree>
    <p:extLst>
      <p:ext uri="{BB962C8B-B14F-4D97-AF65-F5344CB8AC3E}">
        <p14:creationId xmlns:p14="http://schemas.microsoft.com/office/powerpoint/2010/main" val="40287470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07475"/>
            <a:ext cx="8229600" cy="1143000"/>
          </a:xfrm>
        </p:spPr>
        <p:txBody>
          <a:bodyPr>
            <a:normAutofit fontScale="90000"/>
          </a:bodyPr>
          <a:lstStyle/>
          <a:p>
            <a:r>
              <a:rPr dirty="0"/>
              <a:t>POPULARITY MATCHING APPROACH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457037" cy="1554480"/>
          </a:xfrm>
        </p:spPr>
        <p:txBody>
          <a:bodyPr anchor="ctr">
            <a:normAutofit/>
          </a:bodyPr>
          <a:lstStyle/>
          <a:p>
            <a:r>
              <a:rPr lang="en-US" sz="4200"/>
              <a:t>Popular Restaurants Analysis</a:t>
            </a:r>
          </a:p>
        </p:txBody>
      </p:sp>
      <p:sp>
        <p:nvSpPr>
          <p:cNvPr id="3" name="Content Placeholder 2"/>
          <p:cNvSpPr>
            <a:spLocks noGrp="1"/>
          </p:cNvSpPr>
          <p:nvPr>
            <p:ph idx="1"/>
          </p:nvPr>
        </p:nvSpPr>
        <p:spPr>
          <a:xfrm>
            <a:off x="783771" y="3017522"/>
            <a:ext cx="7455989" cy="3124658"/>
          </a:xfrm>
        </p:spPr>
        <p:txBody>
          <a:bodyPr anchor="ctr">
            <a:normAutofit/>
          </a:bodyPr>
          <a:lstStyle/>
          <a:p>
            <a:pPr>
              <a:defRPr sz="1400"/>
            </a:pPr>
            <a:r>
              <a:rPr lang="en-US" sz="2100"/>
              <a:t>Highest average rating: Evanston Games &amp; Cafe (5.0/5, 1 review).</a:t>
            </a:r>
          </a:p>
          <a:p>
            <a:pPr>
              <a:defRPr sz="1400"/>
            </a:pPr>
            <a:r>
              <a:rPr lang="en-US" sz="2100"/>
              <a:t>Most reviews: Campagnola (48) vs median 22.5.</a:t>
            </a:r>
          </a:p>
          <a:p>
            <a:pPr>
              <a:defRPr sz="1400"/>
            </a:pPr>
            <a:r>
              <a:rPr lang="en-US" sz="2100"/>
              <a:t>Rating reliability improves with review volume.</a:t>
            </a:r>
          </a:p>
          <a:p>
            <a:endParaRPr lang="en-US" sz="21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487837" y="2732147"/>
            <a:ext cx="5860051" cy="395784"/>
            <a:chOff x="6081624" y="1998368"/>
            <a:chExt cx="5613457" cy="782175"/>
          </a:xfrm>
          <a:solidFill>
            <a:schemeClr val="accent4"/>
          </a:solidFill>
        </p:grpSpPr>
        <p:sp>
          <p:nvSpPr>
            <p:cNvPr id="41" name="Rectangle 40">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Rectangle 43">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646" y="517897"/>
            <a:ext cx="8333796"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2768" y="922644"/>
            <a:ext cx="3780214" cy="1169585"/>
          </a:xfrm>
        </p:spPr>
        <p:txBody>
          <a:bodyPr anchor="b">
            <a:normAutofit/>
          </a:bodyPr>
          <a:lstStyle/>
          <a:p>
            <a:r>
              <a:rPr lang="en-US" sz="3500"/>
              <a:t>Cuisine‑Based Popularity Scoring</a:t>
            </a:r>
          </a:p>
        </p:txBody>
      </p:sp>
      <p:sp>
        <p:nvSpPr>
          <p:cNvPr id="46" name="Rectangle 45">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1785" y="2263365"/>
            <a:ext cx="370332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791786" y="2508105"/>
            <a:ext cx="3780214" cy="3632493"/>
          </a:xfrm>
        </p:spPr>
        <p:txBody>
          <a:bodyPr anchor="ctr">
            <a:normAutofit/>
          </a:bodyPr>
          <a:lstStyle/>
          <a:p>
            <a:pPr marL="0" indent="0">
              <a:buNone/>
              <a:defRPr sz="1400"/>
            </a:pPr>
            <a:r>
              <a:rPr lang="en-US" dirty="0"/>
              <a:t>Balances quality &amp; quantity within cuisine context.</a:t>
            </a:r>
          </a:p>
          <a:p>
            <a:pPr marL="0" indent="0">
              <a:buNone/>
              <a:defRPr sz="1400"/>
            </a:pPr>
            <a:r>
              <a:rPr lang="en-US" b="1" dirty="0"/>
              <a:t>Example</a:t>
            </a:r>
            <a:r>
              <a:rPr lang="en-US" dirty="0"/>
              <a:t>:</a:t>
            </a:r>
          </a:p>
          <a:p>
            <a:pPr>
              <a:defRPr sz="1400"/>
            </a:pPr>
            <a:r>
              <a:rPr lang="en-US" dirty="0"/>
              <a:t>Top Recommendations by Cuisine:</a:t>
            </a:r>
            <a:br>
              <a:rPr lang="en-US" dirty="0"/>
            </a:br>
            <a:r>
              <a:rPr lang="en-US" dirty="0"/>
              <a:t>Spanish: Tapas Barcelona (4.21, 29 reviews, 2.14 score).</a:t>
            </a:r>
            <a:br>
              <a:rPr lang="en-US" dirty="0"/>
            </a:br>
            <a:r>
              <a:rPr lang="en-US" dirty="0"/>
              <a:t>Chinese: Joy Yee Noodle (4.29, 31, 1.51).</a:t>
            </a:r>
            <a:br>
              <a:rPr lang="en-US" dirty="0"/>
            </a:br>
            <a:r>
              <a:rPr lang="en-US" dirty="0"/>
              <a:t>Mexican: Taco Diablo (4.30, 37, 1.22).</a:t>
            </a:r>
            <a:br>
              <a:rPr lang="en-US" dirty="0"/>
            </a:br>
            <a:r>
              <a:rPr lang="en-US" dirty="0"/>
              <a:t>Coffee: Pâtisserie Coralie (4.03, 30, 1.98).</a:t>
            </a:r>
            <a:br>
              <a:rPr lang="en-US" dirty="0"/>
            </a:br>
            <a:endParaRPr lang="en-US" dirty="0"/>
          </a:p>
        </p:txBody>
      </p:sp>
      <p:pic>
        <p:nvPicPr>
          <p:cNvPr id="7" name="Picture 6">
            <a:extLst>
              <a:ext uri="{FF2B5EF4-FFF2-40B4-BE49-F238E27FC236}">
                <a16:creationId xmlns:a16="http://schemas.microsoft.com/office/drawing/2014/main" id="{A74320EE-AD9B-1240-5ABF-6928B4F3459F}"/>
              </a:ext>
            </a:extLst>
          </p:cNvPr>
          <p:cNvPicPr>
            <a:picLocks noChangeAspect="1"/>
          </p:cNvPicPr>
          <p:nvPr/>
        </p:nvPicPr>
        <p:blipFill>
          <a:blip r:embed="rId3"/>
          <a:stretch>
            <a:fillRect/>
          </a:stretch>
        </p:blipFill>
        <p:spPr>
          <a:xfrm>
            <a:off x="4723705" y="1772254"/>
            <a:ext cx="3855412" cy="2727702"/>
          </a:xfrm>
          <a:prstGeom prst="rect">
            <a:avLst/>
          </a:prstGeom>
        </p:spPr>
      </p:pic>
      <p:pic>
        <p:nvPicPr>
          <p:cNvPr id="6" name="Picture 5">
            <a:extLst>
              <a:ext uri="{FF2B5EF4-FFF2-40B4-BE49-F238E27FC236}">
                <a16:creationId xmlns:a16="http://schemas.microsoft.com/office/drawing/2014/main" id="{1916DE6E-702F-4528-700F-633F1A722B9E}"/>
              </a:ext>
            </a:extLst>
          </p:cNvPr>
          <p:cNvPicPr>
            <a:picLocks noChangeAspect="1"/>
          </p:cNvPicPr>
          <p:nvPr/>
        </p:nvPicPr>
        <p:blipFill>
          <a:blip r:embed="rId4"/>
          <a:stretch>
            <a:fillRect/>
          </a:stretch>
        </p:blipFill>
        <p:spPr>
          <a:xfrm>
            <a:off x="4723705" y="5022782"/>
            <a:ext cx="3773902" cy="41512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15719BB-48A7-4AF4-BB91-DC82E0DF7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Freeform: Shape 22">
            <a:extLst>
              <a:ext uri="{FF2B5EF4-FFF2-40B4-BE49-F238E27FC236}">
                <a16:creationId xmlns:a16="http://schemas.microsoft.com/office/drawing/2014/main" id="{10973A55-5440-4A99-B526-B5812E462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A9682493-588A-4D52-98F6-FBBD80C07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4027"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329184" y="859536"/>
            <a:ext cx="3624602" cy="1170432"/>
          </a:xfrm>
        </p:spPr>
        <p:txBody>
          <a:bodyPr vert="horz" lIns="91440" tIns="45720" rIns="91440" bIns="45720" rtlCol="0" anchor="b">
            <a:normAutofit/>
          </a:bodyPr>
          <a:lstStyle/>
          <a:p>
            <a:pPr algn="l" defTabSz="914400">
              <a:lnSpc>
                <a:spcPct val="90000"/>
              </a:lnSpc>
            </a:pPr>
            <a:r>
              <a:rPr lang="en-US" sz="3000"/>
              <a:t>Rating Reliability — Shrinkage Estimator</a:t>
            </a:r>
          </a:p>
        </p:txBody>
      </p:sp>
      <p:sp>
        <p:nvSpPr>
          <p:cNvPr id="27" name="Rectangle 26">
            <a:extLst>
              <a:ext uri="{FF2B5EF4-FFF2-40B4-BE49-F238E27FC236}">
                <a16:creationId xmlns:a16="http://schemas.microsoft.com/office/drawing/2014/main" id="{FBEC5A7A-ADE4-48D9-B89C-2BA1C9110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18283" y="431969"/>
            <a:ext cx="73152" cy="4114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9" name="Rectangle 28">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119" y="2185062"/>
            <a:ext cx="37033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Content Placeholder 10">
            <a:extLst>
              <a:ext uri="{FF2B5EF4-FFF2-40B4-BE49-F238E27FC236}">
                <a16:creationId xmlns:a16="http://schemas.microsoft.com/office/drawing/2014/main" id="{7EF8547D-BBA2-807E-BC24-C5B2997818E7}"/>
              </a:ext>
            </a:extLst>
          </p:cNvPr>
          <p:cNvSpPr>
            <a:spLocks noGrp="1"/>
          </p:cNvSpPr>
          <p:nvPr>
            <p:ph idx="1"/>
          </p:nvPr>
        </p:nvSpPr>
        <p:spPr>
          <a:xfrm>
            <a:off x="58449" y="4280855"/>
            <a:ext cx="3624602" cy="3664351"/>
          </a:xfr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defRPr sz="1400"/>
            </a:pPr>
            <a:r>
              <a:rPr lang="en-US" sz="1600" dirty="0"/>
              <a:t>Largest increases: Burger King (+0.97), Evanston Chicken (+0.90).</a:t>
            </a:r>
          </a:p>
          <a:p>
            <a:pPr indent="-228600" defTabSz="914400">
              <a:lnSpc>
                <a:spcPct val="90000"/>
              </a:lnSpc>
              <a:spcAft>
                <a:spcPts val="600"/>
              </a:spcAft>
              <a:buFont typeface="Arial" panose="020B0604020202020204" pitchFamily="34" charset="0"/>
              <a:buChar char="•"/>
              <a:defRPr sz="1400"/>
            </a:pPr>
            <a:r>
              <a:rPr lang="en-US" sz="1600" dirty="0"/>
              <a:t>Largest decreases: Evanston Games &amp; Cafe (-1.21), LeTour (-1.13).</a:t>
            </a:r>
          </a:p>
        </p:txBody>
      </p:sp>
      <p:pic>
        <p:nvPicPr>
          <p:cNvPr id="5" name="Picture 4">
            <a:extLst>
              <a:ext uri="{FF2B5EF4-FFF2-40B4-BE49-F238E27FC236}">
                <a16:creationId xmlns:a16="http://schemas.microsoft.com/office/drawing/2014/main" id="{91DBDD94-132B-4620-B868-67926F7A22FB}"/>
              </a:ext>
            </a:extLst>
          </p:cNvPr>
          <p:cNvPicPr>
            <a:picLocks noChangeAspect="1"/>
          </p:cNvPicPr>
          <p:nvPr/>
        </p:nvPicPr>
        <p:blipFill>
          <a:blip r:embed="rId3"/>
          <a:stretch>
            <a:fillRect/>
          </a:stretch>
        </p:blipFill>
        <p:spPr>
          <a:xfrm>
            <a:off x="4622476" y="247016"/>
            <a:ext cx="4255362" cy="2691515"/>
          </a:xfrm>
          <a:prstGeom prst="rect">
            <a:avLst/>
          </a:prstGeom>
        </p:spPr>
      </p:pic>
      <p:pic>
        <p:nvPicPr>
          <p:cNvPr id="7" name="Picture 6">
            <a:extLst>
              <a:ext uri="{FF2B5EF4-FFF2-40B4-BE49-F238E27FC236}">
                <a16:creationId xmlns:a16="http://schemas.microsoft.com/office/drawing/2014/main" id="{CEE896DA-DB20-9E10-F490-FD0EC93CBC49}"/>
              </a:ext>
            </a:extLst>
          </p:cNvPr>
          <p:cNvPicPr>
            <a:picLocks noChangeAspect="1"/>
          </p:cNvPicPr>
          <p:nvPr/>
        </p:nvPicPr>
        <p:blipFill>
          <a:blip r:embed="rId4"/>
          <a:stretch>
            <a:fillRect/>
          </a:stretch>
        </p:blipFill>
        <p:spPr>
          <a:xfrm>
            <a:off x="4622476" y="4331137"/>
            <a:ext cx="4416946" cy="2186388"/>
          </a:xfrm>
          <a:prstGeom prst="rect">
            <a:avLst/>
          </a:prstGeom>
        </p:spPr>
      </p:pic>
      <p:pic>
        <p:nvPicPr>
          <p:cNvPr id="12" name="Content Placeholder 3">
            <a:extLst>
              <a:ext uri="{FF2B5EF4-FFF2-40B4-BE49-F238E27FC236}">
                <a16:creationId xmlns:a16="http://schemas.microsoft.com/office/drawing/2014/main" id="{9B35E26B-F860-55A2-9689-793DCE76EEAA}"/>
              </a:ext>
            </a:extLst>
          </p:cNvPr>
          <p:cNvPicPr>
            <a:picLocks noChangeAspect="1"/>
          </p:cNvPicPr>
          <p:nvPr/>
        </p:nvPicPr>
        <p:blipFill>
          <a:blip r:embed="rId5"/>
          <a:stretch>
            <a:fillRect/>
          </a:stretch>
        </p:blipFill>
        <p:spPr>
          <a:xfrm>
            <a:off x="245187" y="2389103"/>
            <a:ext cx="4073652" cy="160909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7610"/>
            <a:ext cx="8229600" cy="1143000"/>
          </a:xfrm>
        </p:spPr>
        <p:txBody>
          <a:bodyPr>
            <a:normAutofit fontScale="90000"/>
          </a:bodyPr>
          <a:lstStyle/>
          <a:p>
            <a:r>
              <a:rPr dirty="0"/>
              <a:t>NATURAL LANGUAGE ANALYSIS APPROACH</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61293230-B0F6-45B1-96D1-13D18E2429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6">
            <a:extLst>
              <a:ext uri="{FF2B5EF4-FFF2-40B4-BE49-F238E27FC236}">
                <a16:creationId xmlns:a16="http://schemas.microsoft.com/office/drawing/2014/main" id="{F1E8018D-D29A-4B9D-BF9C-9F4D7BA12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68" y="3296652"/>
            <a:ext cx="9151584"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628650" y="3884449"/>
            <a:ext cx="3161297" cy="2398712"/>
          </a:xfrm>
        </p:spPr>
        <p:txBody>
          <a:bodyPr>
            <a:normAutofit/>
          </a:bodyPr>
          <a:lstStyle/>
          <a:p>
            <a:pPr>
              <a:lnSpc>
                <a:spcPct val="90000"/>
              </a:lnSpc>
            </a:pPr>
            <a:r>
              <a:rPr lang="en-US" sz="4100" dirty="0"/>
              <a:t>Natural Language Analysis Methodology</a:t>
            </a:r>
          </a:p>
        </p:txBody>
      </p:sp>
      <p:pic>
        <p:nvPicPr>
          <p:cNvPr id="6" name="Picture 5">
            <a:extLst>
              <a:ext uri="{FF2B5EF4-FFF2-40B4-BE49-F238E27FC236}">
                <a16:creationId xmlns:a16="http://schemas.microsoft.com/office/drawing/2014/main" id="{BAADA753-C92C-E39D-F95B-A2FED99F2A7A}"/>
              </a:ext>
            </a:extLst>
          </p:cNvPr>
          <p:cNvPicPr>
            <a:picLocks noChangeAspect="1"/>
          </p:cNvPicPr>
          <p:nvPr/>
        </p:nvPicPr>
        <p:blipFill>
          <a:blip r:embed="rId3"/>
          <a:stretch>
            <a:fillRect/>
          </a:stretch>
        </p:blipFill>
        <p:spPr>
          <a:xfrm>
            <a:off x="351227" y="574839"/>
            <a:ext cx="2867408" cy="2595003"/>
          </a:xfrm>
          <a:prstGeom prst="rect">
            <a:avLst/>
          </a:prstGeom>
        </p:spPr>
      </p:pic>
      <p:pic>
        <p:nvPicPr>
          <p:cNvPr id="5" name="Picture 4">
            <a:extLst>
              <a:ext uri="{FF2B5EF4-FFF2-40B4-BE49-F238E27FC236}">
                <a16:creationId xmlns:a16="http://schemas.microsoft.com/office/drawing/2014/main" id="{941BA36A-5259-7A76-DC4E-2DF9E2013FD3}"/>
              </a:ext>
            </a:extLst>
          </p:cNvPr>
          <p:cNvPicPr>
            <a:picLocks noChangeAspect="1"/>
          </p:cNvPicPr>
          <p:nvPr/>
        </p:nvPicPr>
        <p:blipFill>
          <a:blip r:embed="rId4"/>
          <a:stretch>
            <a:fillRect/>
          </a:stretch>
        </p:blipFill>
        <p:spPr>
          <a:xfrm>
            <a:off x="3458619" y="496963"/>
            <a:ext cx="4969830" cy="1329429"/>
          </a:xfrm>
          <a:prstGeom prst="rect">
            <a:avLst/>
          </a:prstGeom>
        </p:spPr>
      </p:pic>
      <p:pic>
        <p:nvPicPr>
          <p:cNvPr id="4" name="Picture 3">
            <a:extLst>
              <a:ext uri="{FF2B5EF4-FFF2-40B4-BE49-F238E27FC236}">
                <a16:creationId xmlns:a16="http://schemas.microsoft.com/office/drawing/2014/main" id="{42E65774-66CF-75DE-DD1A-98C83F5AADBB}"/>
              </a:ext>
            </a:extLst>
          </p:cNvPr>
          <p:cNvPicPr>
            <a:picLocks noChangeAspect="1"/>
          </p:cNvPicPr>
          <p:nvPr/>
        </p:nvPicPr>
        <p:blipFill>
          <a:blip r:embed="rId5"/>
          <a:stretch>
            <a:fillRect/>
          </a:stretch>
        </p:blipFill>
        <p:spPr>
          <a:xfrm>
            <a:off x="3458619" y="2080173"/>
            <a:ext cx="4873127" cy="1120819"/>
          </a:xfrm>
          <a:prstGeom prst="rect">
            <a:avLst/>
          </a:prstGeom>
        </p:spPr>
      </p:pic>
      <p:sp>
        <p:nvSpPr>
          <p:cNvPr id="3" name="Content Placeholder 2"/>
          <p:cNvSpPr>
            <a:spLocks noGrp="1"/>
          </p:cNvSpPr>
          <p:nvPr>
            <p:ph idx="1"/>
          </p:nvPr>
        </p:nvSpPr>
        <p:spPr>
          <a:xfrm>
            <a:off x="4229779" y="3884449"/>
            <a:ext cx="4285570" cy="2398713"/>
          </a:xfrm>
        </p:spPr>
        <p:txBody>
          <a:bodyPr anchor="ctr">
            <a:normAutofit/>
          </a:bodyPr>
          <a:lstStyle/>
          <a:p>
            <a:endParaRPr lang="en-US" sz="1700"/>
          </a:p>
          <a:p>
            <a:pPr>
              <a:defRPr sz="1400"/>
            </a:pPr>
            <a:r>
              <a:rPr lang="en-US" sz="1700"/>
              <a:t>Augment descriptions with cuisine type.</a:t>
            </a:r>
          </a:p>
          <a:p>
            <a:pPr>
              <a:defRPr sz="1400"/>
            </a:pPr>
            <a:r>
              <a:rPr lang="en-US" sz="1700"/>
              <a:t>Remove stop words; compute TF‑IDF.</a:t>
            </a:r>
          </a:p>
          <a:p>
            <a:pPr>
              <a:defRPr sz="1400"/>
            </a:pPr>
            <a:r>
              <a:rPr lang="en-US" sz="1700"/>
              <a:t>Create 100‑word vectors &amp; calculate distances.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553</TotalTime>
  <Words>2026</Words>
  <Application>Microsoft Macintosh PowerPoint</Application>
  <PresentationFormat>On-screen Show (4:3)</PresentationFormat>
  <Paragraphs>242</Paragraphs>
  <Slides>26</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Arial</vt:lpstr>
      <vt:lpstr>Calibri</vt:lpstr>
      <vt:lpstr>Menlo</vt:lpstr>
      <vt:lpstr>Office Theme</vt:lpstr>
      <vt:lpstr>Evanston Restaurant Recommender System</vt:lpstr>
      <vt:lpstr>Project Introduction</vt:lpstr>
      <vt:lpstr>Presentation Overview</vt:lpstr>
      <vt:lpstr>Data Preprocessing Steps</vt:lpstr>
      <vt:lpstr>Restaurants Geographical Distribution</vt:lpstr>
      <vt:lpstr>Missing Values Analysis</vt:lpstr>
      <vt:lpstr>Missing Data (Conditional) Imputation Strategy</vt:lpstr>
      <vt:lpstr>Data Distribution — Demographics</vt:lpstr>
      <vt:lpstr>Cuisine Distribution</vt:lpstr>
      <vt:lpstr>Data Distribution — Ratings</vt:lpstr>
      <vt:lpstr>Clustering</vt:lpstr>
      <vt:lpstr>User Segmentation — Clustering Methodology</vt:lpstr>
      <vt:lpstr>User Clusters &amp; Rating Behavior</vt:lpstr>
      <vt:lpstr>Validating Clusters — Agglomerative</vt:lpstr>
      <vt:lpstr>CONTENT‑BASED FILTERING APPROACH</vt:lpstr>
      <vt:lpstr>Content‑Based Filtering Methodology</vt:lpstr>
      <vt:lpstr>Recommendation Evaluation — `Hit‑Accuracy`</vt:lpstr>
      <vt:lpstr>Thank You!</vt:lpstr>
      <vt:lpstr>Appendix: Example of calculating Hit-Accuracy</vt:lpstr>
      <vt:lpstr>Bonus SLides</vt:lpstr>
      <vt:lpstr>POPULARITY MATCHING APPROACH</vt:lpstr>
      <vt:lpstr>Popular Restaurants Analysis</vt:lpstr>
      <vt:lpstr>Cuisine‑Based Popularity Scoring</vt:lpstr>
      <vt:lpstr>Rating Reliability — Shrinkage Estimator</vt:lpstr>
      <vt:lpstr>NATURAL LANGUAGE ANALYSIS APPROACH</vt:lpstr>
      <vt:lpstr>Natural Language Analysis Methodology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Xinhui Qian</cp:lastModifiedBy>
  <cp:revision>4</cp:revision>
  <dcterms:created xsi:type="dcterms:W3CDTF">2013-01-27T09:14:16Z</dcterms:created>
  <dcterms:modified xsi:type="dcterms:W3CDTF">2025-04-29T17:22:25Z</dcterms:modified>
  <cp:category/>
</cp:coreProperties>
</file>